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0" r:id="rId4"/>
    <p:sldId id="261" r:id="rId5"/>
  </p:sldIdLst>
  <p:sldSz cx="9753600" cy="7315200"/>
  <p:notesSz cx="6858000" cy="9144000"/>
  <p:embeddedFontLst>
    <p:embeddedFont>
      <p:font typeface="DengXian" panose="02010600030101010101" pitchFamily="2" charset="-122"/>
      <p:regular r:id="rId6"/>
      <p:bold r:id="rId7"/>
    </p:embeddedFont>
    <p:embeddedFont>
      <p:font typeface="Arimo" panose="020B0600000101010101" charset="0"/>
      <p:regular r:id="rId8"/>
    </p:embeddedFont>
    <p:embeddedFont>
      <p:font typeface="Arimo Bold" panose="020B0600000101010101" charset="0"/>
      <p:regular r:id="rId9"/>
    </p:embeddedFont>
    <p:embeddedFont>
      <p:font typeface="Canva Sans Bold" panose="020B0600000101010101" charset="0"/>
      <p:regular r:id="rId10"/>
    </p:embeddedFont>
    <p:embeddedFont>
      <p:font typeface="Georgia" panose="02040502050405020303" pitchFamily="18" charset="0"/>
      <p:regular r:id="rId11"/>
      <p:bold r:id="rId12"/>
      <p:italic r:id="rId13"/>
      <p:boldItalic r:id="rId14"/>
    </p:embeddedFont>
    <p:embeddedFont>
      <p:font typeface="Georgia Pro Light" panose="02040302050405020303" pitchFamily="18" charset="0"/>
      <p:regular r:id="rId15"/>
    </p:embeddedFont>
    <p:embeddedFont>
      <p:font typeface="Montaser Arabic" panose="020B0600000101010101" charset="-78"/>
      <p:regular r:id="rId16"/>
    </p:embeddedFont>
    <p:embeddedFont>
      <p:font typeface="Poppins" panose="00000500000000000000" pitchFamily="2" charset="0"/>
      <p:regular r:id="rId17"/>
    </p:embeddedFont>
    <p:embeddedFont>
      <p:font typeface="Poppins Bold" panose="00000800000000000000"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98" d="100"/>
          <a:sy n="98" d="100"/>
        </p:scale>
        <p:origin x="1788"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font" Target="fonts/font8.fntdata"/><Relationship Id="rId18"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font" Target="fonts/font2.fntdata"/><Relationship Id="rId12" Type="http://schemas.openxmlformats.org/officeDocument/2006/relationships/font" Target="fonts/font7.fntdata"/><Relationship Id="rId17"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1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font" Target="fonts/font10.fntdata"/><Relationship Id="rId10" Type="http://schemas.openxmlformats.org/officeDocument/2006/relationships/font" Target="fonts/font5.fntdata"/><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4.fntdata"/><Relationship Id="rId14" Type="http://schemas.openxmlformats.org/officeDocument/2006/relationships/font" Target="fonts/font9.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422086" y="743352"/>
            <a:ext cx="4614759" cy="912483"/>
            <a:chOff x="0" y="0"/>
            <a:chExt cx="2620809" cy="518217"/>
          </a:xfrm>
        </p:grpSpPr>
        <p:sp>
          <p:nvSpPr>
            <p:cNvPr id="3" name="Freeform 3"/>
            <p:cNvSpPr/>
            <p:nvPr/>
          </p:nvSpPr>
          <p:spPr>
            <a:xfrm>
              <a:off x="0" y="0"/>
              <a:ext cx="2620809" cy="518217"/>
            </a:xfrm>
            <a:custGeom>
              <a:avLst/>
              <a:gdLst/>
              <a:ahLst/>
              <a:cxnLst/>
              <a:rect l="l" t="t" r="r" b="b"/>
              <a:pathLst>
                <a:path w="2620809" h="518217">
                  <a:moveTo>
                    <a:pt x="167764" y="0"/>
                  </a:moveTo>
                  <a:lnTo>
                    <a:pt x="2453045" y="0"/>
                  </a:lnTo>
                  <a:cubicBezTo>
                    <a:pt x="2497539" y="0"/>
                    <a:pt x="2540210" y="17675"/>
                    <a:pt x="2571672" y="49137"/>
                  </a:cubicBezTo>
                  <a:cubicBezTo>
                    <a:pt x="2603134" y="80599"/>
                    <a:pt x="2620809" y="123270"/>
                    <a:pt x="2620809" y="167764"/>
                  </a:cubicBezTo>
                  <a:lnTo>
                    <a:pt x="2620809" y="350452"/>
                  </a:lnTo>
                  <a:cubicBezTo>
                    <a:pt x="2620809" y="394946"/>
                    <a:pt x="2603134" y="437618"/>
                    <a:pt x="2571672" y="469080"/>
                  </a:cubicBezTo>
                  <a:cubicBezTo>
                    <a:pt x="2540210" y="500541"/>
                    <a:pt x="2497539" y="518217"/>
                    <a:pt x="2453045" y="518217"/>
                  </a:cubicBezTo>
                  <a:lnTo>
                    <a:pt x="167764" y="518217"/>
                  </a:lnTo>
                  <a:cubicBezTo>
                    <a:pt x="75111" y="518217"/>
                    <a:pt x="0" y="443106"/>
                    <a:pt x="0" y="350452"/>
                  </a:cubicBezTo>
                  <a:lnTo>
                    <a:pt x="0" y="167764"/>
                  </a:lnTo>
                  <a:cubicBezTo>
                    <a:pt x="0" y="123270"/>
                    <a:pt x="17675" y="80599"/>
                    <a:pt x="49137" y="49137"/>
                  </a:cubicBezTo>
                  <a:cubicBezTo>
                    <a:pt x="80599" y="17675"/>
                    <a:pt x="123270" y="0"/>
                    <a:pt x="167764" y="0"/>
                  </a:cubicBezTo>
                  <a:close/>
                </a:path>
              </a:pathLst>
            </a:custGeom>
            <a:solidFill>
              <a:srgbClr val="F4F4F4"/>
            </a:solidFill>
            <a:ln w="19050" cap="rnd">
              <a:solidFill>
                <a:srgbClr val="022A3D"/>
              </a:solidFill>
              <a:prstDash val="solid"/>
              <a:round/>
            </a:ln>
          </p:spPr>
          <p:txBody>
            <a:bodyPr/>
            <a:lstStyle/>
            <a:p>
              <a:endParaRPr lang="en-US"/>
            </a:p>
          </p:txBody>
        </p:sp>
        <p:sp>
          <p:nvSpPr>
            <p:cNvPr id="4" name="TextBox 4"/>
            <p:cNvSpPr txBox="1"/>
            <p:nvPr/>
          </p:nvSpPr>
          <p:spPr>
            <a:xfrm>
              <a:off x="0" y="-19050"/>
              <a:ext cx="2620809" cy="537267"/>
            </a:xfrm>
            <a:prstGeom prst="rect">
              <a:avLst/>
            </a:prstGeom>
          </p:spPr>
          <p:txBody>
            <a:bodyPr lIns="15240" tIns="15240" rIns="15240" bIns="15240" rtlCol="0" anchor="ctr"/>
            <a:lstStyle/>
            <a:p>
              <a:pPr algn="ctr">
                <a:lnSpc>
                  <a:spcPts val="727"/>
                </a:lnSpc>
              </a:pPr>
              <a:endParaRPr/>
            </a:p>
          </p:txBody>
        </p:sp>
      </p:grpSp>
      <p:grpSp>
        <p:nvGrpSpPr>
          <p:cNvPr id="5" name="Group 5"/>
          <p:cNvGrpSpPr/>
          <p:nvPr/>
        </p:nvGrpSpPr>
        <p:grpSpPr>
          <a:xfrm>
            <a:off x="2299198" y="752037"/>
            <a:ext cx="892450" cy="89245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0335F"/>
            </a:solidFill>
          </p:spPr>
          <p:txBody>
            <a:bodyPr/>
            <a:lstStyle/>
            <a:p>
              <a:endParaRPr lang="en-US"/>
            </a:p>
          </p:txBody>
        </p:sp>
        <p:sp>
          <p:nvSpPr>
            <p:cNvPr id="7" name="TextBox 7"/>
            <p:cNvSpPr txBox="1"/>
            <p:nvPr/>
          </p:nvSpPr>
          <p:spPr>
            <a:xfrm>
              <a:off x="76200" y="66675"/>
              <a:ext cx="660400" cy="669925"/>
            </a:xfrm>
            <a:prstGeom prst="rect">
              <a:avLst/>
            </a:prstGeom>
          </p:spPr>
          <p:txBody>
            <a:bodyPr lIns="15240" tIns="15240" rIns="15240" bIns="15240" rtlCol="0" anchor="ctr"/>
            <a:lstStyle/>
            <a:p>
              <a:pPr algn="ctr">
                <a:lnSpc>
                  <a:spcPts val="798"/>
                </a:lnSpc>
              </a:pPr>
              <a:endParaRPr/>
            </a:p>
          </p:txBody>
        </p:sp>
      </p:grpSp>
      <p:grpSp>
        <p:nvGrpSpPr>
          <p:cNvPr id="8" name="Group 8"/>
          <p:cNvGrpSpPr/>
          <p:nvPr/>
        </p:nvGrpSpPr>
        <p:grpSpPr>
          <a:xfrm>
            <a:off x="2299198" y="1726865"/>
            <a:ext cx="4704205" cy="912968"/>
            <a:chOff x="0" y="0"/>
            <a:chExt cx="2670190" cy="518217"/>
          </a:xfrm>
        </p:grpSpPr>
        <p:sp>
          <p:nvSpPr>
            <p:cNvPr id="9" name="Freeform 9"/>
            <p:cNvSpPr/>
            <p:nvPr/>
          </p:nvSpPr>
          <p:spPr>
            <a:xfrm>
              <a:off x="0" y="0"/>
              <a:ext cx="2670190" cy="518217"/>
            </a:xfrm>
            <a:custGeom>
              <a:avLst/>
              <a:gdLst/>
              <a:ahLst/>
              <a:cxnLst/>
              <a:rect l="l" t="t" r="r" b="b"/>
              <a:pathLst>
                <a:path w="2670190" h="518217">
                  <a:moveTo>
                    <a:pt x="164574" y="0"/>
                  </a:moveTo>
                  <a:lnTo>
                    <a:pt x="2505616" y="0"/>
                  </a:lnTo>
                  <a:cubicBezTo>
                    <a:pt x="2549264" y="0"/>
                    <a:pt x="2591124" y="17339"/>
                    <a:pt x="2621987" y="48203"/>
                  </a:cubicBezTo>
                  <a:cubicBezTo>
                    <a:pt x="2652851" y="79066"/>
                    <a:pt x="2670190" y="120927"/>
                    <a:pt x="2670190" y="164574"/>
                  </a:cubicBezTo>
                  <a:lnTo>
                    <a:pt x="2670190" y="353642"/>
                  </a:lnTo>
                  <a:cubicBezTo>
                    <a:pt x="2670190" y="397290"/>
                    <a:pt x="2652851" y="439150"/>
                    <a:pt x="2621987" y="470014"/>
                  </a:cubicBezTo>
                  <a:cubicBezTo>
                    <a:pt x="2591124" y="500878"/>
                    <a:pt x="2549264" y="518217"/>
                    <a:pt x="2505616" y="518217"/>
                  </a:cubicBezTo>
                  <a:lnTo>
                    <a:pt x="164574" y="518217"/>
                  </a:lnTo>
                  <a:cubicBezTo>
                    <a:pt x="120927" y="518217"/>
                    <a:pt x="79066" y="500878"/>
                    <a:pt x="48203" y="470014"/>
                  </a:cubicBezTo>
                  <a:cubicBezTo>
                    <a:pt x="17339" y="439150"/>
                    <a:pt x="0" y="397290"/>
                    <a:pt x="0" y="353642"/>
                  </a:cubicBezTo>
                  <a:lnTo>
                    <a:pt x="0" y="164574"/>
                  </a:lnTo>
                  <a:cubicBezTo>
                    <a:pt x="0" y="120927"/>
                    <a:pt x="17339" y="79066"/>
                    <a:pt x="48203" y="48203"/>
                  </a:cubicBezTo>
                  <a:cubicBezTo>
                    <a:pt x="79066" y="17339"/>
                    <a:pt x="120927" y="0"/>
                    <a:pt x="164574" y="0"/>
                  </a:cubicBezTo>
                  <a:close/>
                </a:path>
              </a:pathLst>
            </a:custGeom>
            <a:solidFill>
              <a:srgbClr val="F4F4F4"/>
            </a:solidFill>
            <a:ln w="19050" cap="rnd">
              <a:solidFill>
                <a:srgbClr val="20335F"/>
              </a:solidFill>
              <a:prstDash val="solid"/>
              <a:round/>
            </a:ln>
          </p:spPr>
          <p:txBody>
            <a:bodyPr/>
            <a:lstStyle/>
            <a:p>
              <a:endParaRPr lang="en-US"/>
            </a:p>
          </p:txBody>
        </p:sp>
        <p:sp>
          <p:nvSpPr>
            <p:cNvPr id="10" name="TextBox 10"/>
            <p:cNvSpPr txBox="1"/>
            <p:nvPr/>
          </p:nvSpPr>
          <p:spPr>
            <a:xfrm>
              <a:off x="0" y="-19050"/>
              <a:ext cx="2670190" cy="537267"/>
            </a:xfrm>
            <a:prstGeom prst="rect">
              <a:avLst/>
            </a:prstGeom>
          </p:spPr>
          <p:txBody>
            <a:bodyPr lIns="15240" tIns="15240" rIns="15240" bIns="15240" rtlCol="0" anchor="ctr"/>
            <a:lstStyle/>
            <a:p>
              <a:pPr algn="ctr">
                <a:lnSpc>
                  <a:spcPts val="727"/>
                </a:lnSpc>
              </a:pPr>
              <a:endParaRPr/>
            </a:p>
          </p:txBody>
        </p:sp>
      </p:grpSp>
      <p:grpSp>
        <p:nvGrpSpPr>
          <p:cNvPr id="11" name="Group 11"/>
          <p:cNvGrpSpPr/>
          <p:nvPr/>
        </p:nvGrpSpPr>
        <p:grpSpPr>
          <a:xfrm>
            <a:off x="2286237" y="1721460"/>
            <a:ext cx="918373" cy="91837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5372"/>
            </a:solidFill>
          </p:spPr>
          <p:txBody>
            <a:bodyPr/>
            <a:lstStyle/>
            <a:p>
              <a:endParaRPr lang="en-US"/>
            </a:p>
          </p:txBody>
        </p:sp>
        <p:sp>
          <p:nvSpPr>
            <p:cNvPr id="13" name="TextBox 13"/>
            <p:cNvSpPr txBox="1"/>
            <p:nvPr/>
          </p:nvSpPr>
          <p:spPr>
            <a:xfrm>
              <a:off x="76200" y="66675"/>
              <a:ext cx="660400" cy="669925"/>
            </a:xfrm>
            <a:prstGeom prst="rect">
              <a:avLst/>
            </a:prstGeom>
          </p:spPr>
          <p:txBody>
            <a:bodyPr lIns="15240" tIns="15240" rIns="15240" bIns="15240" rtlCol="0" anchor="ctr"/>
            <a:lstStyle/>
            <a:p>
              <a:pPr algn="ctr">
                <a:lnSpc>
                  <a:spcPts val="798"/>
                </a:lnSpc>
              </a:pPr>
              <a:endParaRPr/>
            </a:p>
          </p:txBody>
        </p:sp>
      </p:grpSp>
      <p:grpSp>
        <p:nvGrpSpPr>
          <p:cNvPr id="14" name="Group 14"/>
          <p:cNvGrpSpPr/>
          <p:nvPr/>
        </p:nvGrpSpPr>
        <p:grpSpPr>
          <a:xfrm>
            <a:off x="2299198" y="2702365"/>
            <a:ext cx="4734614" cy="936496"/>
            <a:chOff x="0" y="0"/>
            <a:chExt cx="2647125" cy="523595"/>
          </a:xfrm>
        </p:grpSpPr>
        <p:sp>
          <p:nvSpPr>
            <p:cNvPr id="15" name="Freeform 15"/>
            <p:cNvSpPr/>
            <p:nvPr/>
          </p:nvSpPr>
          <p:spPr>
            <a:xfrm>
              <a:off x="0" y="0"/>
              <a:ext cx="2647125" cy="523595"/>
            </a:xfrm>
            <a:custGeom>
              <a:avLst/>
              <a:gdLst/>
              <a:ahLst/>
              <a:cxnLst/>
              <a:rect l="l" t="t" r="r" b="b"/>
              <a:pathLst>
                <a:path w="2647125" h="523595">
                  <a:moveTo>
                    <a:pt x="163517" y="0"/>
                  </a:moveTo>
                  <a:lnTo>
                    <a:pt x="2483608" y="0"/>
                  </a:lnTo>
                  <a:cubicBezTo>
                    <a:pt x="2526975" y="0"/>
                    <a:pt x="2568566" y="17228"/>
                    <a:pt x="2599232" y="47893"/>
                  </a:cubicBezTo>
                  <a:cubicBezTo>
                    <a:pt x="2629897" y="78559"/>
                    <a:pt x="2647125" y="120150"/>
                    <a:pt x="2647125" y="163517"/>
                  </a:cubicBezTo>
                  <a:lnTo>
                    <a:pt x="2647125" y="360078"/>
                  </a:lnTo>
                  <a:cubicBezTo>
                    <a:pt x="2647125" y="450386"/>
                    <a:pt x="2573916" y="523595"/>
                    <a:pt x="2483608" y="523595"/>
                  </a:cubicBezTo>
                  <a:lnTo>
                    <a:pt x="163517" y="523595"/>
                  </a:lnTo>
                  <a:cubicBezTo>
                    <a:pt x="120150" y="523595"/>
                    <a:pt x="78559" y="506368"/>
                    <a:pt x="47893" y="475702"/>
                  </a:cubicBezTo>
                  <a:cubicBezTo>
                    <a:pt x="17228" y="445037"/>
                    <a:pt x="0" y="403445"/>
                    <a:pt x="0" y="360078"/>
                  </a:cubicBezTo>
                  <a:lnTo>
                    <a:pt x="0" y="163517"/>
                  </a:lnTo>
                  <a:cubicBezTo>
                    <a:pt x="0" y="120150"/>
                    <a:pt x="17228" y="78559"/>
                    <a:pt x="47893" y="47893"/>
                  </a:cubicBezTo>
                  <a:cubicBezTo>
                    <a:pt x="78559" y="17228"/>
                    <a:pt x="120150" y="0"/>
                    <a:pt x="163517" y="0"/>
                  </a:cubicBezTo>
                  <a:close/>
                </a:path>
              </a:pathLst>
            </a:custGeom>
            <a:solidFill>
              <a:srgbClr val="F4F4F4"/>
            </a:solidFill>
            <a:ln w="19050" cap="rnd">
              <a:solidFill>
                <a:srgbClr val="4B9B9D"/>
              </a:solidFill>
              <a:prstDash val="solid"/>
              <a:round/>
            </a:ln>
          </p:spPr>
          <p:txBody>
            <a:bodyPr/>
            <a:lstStyle/>
            <a:p>
              <a:endParaRPr lang="en-US"/>
            </a:p>
          </p:txBody>
        </p:sp>
        <p:sp>
          <p:nvSpPr>
            <p:cNvPr id="16" name="TextBox 16"/>
            <p:cNvSpPr txBox="1"/>
            <p:nvPr/>
          </p:nvSpPr>
          <p:spPr>
            <a:xfrm>
              <a:off x="0" y="-19050"/>
              <a:ext cx="2647125" cy="542645"/>
            </a:xfrm>
            <a:prstGeom prst="rect">
              <a:avLst/>
            </a:prstGeom>
          </p:spPr>
          <p:txBody>
            <a:bodyPr lIns="15240" tIns="15240" rIns="15240" bIns="15240" rtlCol="0" anchor="ctr"/>
            <a:lstStyle/>
            <a:p>
              <a:pPr algn="ctr">
                <a:lnSpc>
                  <a:spcPts val="727"/>
                </a:lnSpc>
              </a:pPr>
              <a:endParaRPr/>
            </a:p>
          </p:txBody>
        </p:sp>
      </p:grpSp>
      <p:grpSp>
        <p:nvGrpSpPr>
          <p:cNvPr id="17" name="Group 17"/>
          <p:cNvGrpSpPr/>
          <p:nvPr/>
        </p:nvGrpSpPr>
        <p:grpSpPr>
          <a:xfrm>
            <a:off x="2299198" y="2708060"/>
            <a:ext cx="915486" cy="915486"/>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B9B9D"/>
            </a:solidFill>
          </p:spPr>
          <p:txBody>
            <a:bodyPr/>
            <a:lstStyle/>
            <a:p>
              <a:endParaRPr lang="en-US"/>
            </a:p>
          </p:txBody>
        </p:sp>
        <p:sp>
          <p:nvSpPr>
            <p:cNvPr id="19" name="TextBox 19"/>
            <p:cNvSpPr txBox="1"/>
            <p:nvPr/>
          </p:nvSpPr>
          <p:spPr>
            <a:xfrm>
              <a:off x="76200" y="66675"/>
              <a:ext cx="660400" cy="669925"/>
            </a:xfrm>
            <a:prstGeom prst="rect">
              <a:avLst/>
            </a:prstGeom>
          </p:spPr>
          <p:txBody>
            <a:bodyPr lIns="15240" tIns="15240" rIns="15240" bIns="15240" rtlCol="0" anchor="ctr"/>
            <a:lstStyle/>
            <a:p>
              <a:pPr algn="ctr">
                <a:lnSpc>
                  <a:spcPts val="798"/>
                </a:lnSpc>
              </a:pPr>
              <a:endParaRPr/>
            </a:p>
          </p:txBody>
        </p:sp>
      </p:grpSp>
      <p:grpSp>
        <p:nvGrpSpPr>
          <p:cNvPr id="20" name="Group 20"/>
          <p:cNvGrpSpPr/>
          <p:nvPr/>
        </p:nvGrpSpPr>
        <p:grpSpPr>
          <a:xfrm>
            <a:off x="2299198" y="3727582"/>
            <a:ext cx="4704970" cy="905531"/>
            <a:chOff x="0" y="0"/>
            <a:chExt cx="2647125" cy="509473"/>
          </a:xfrm>
        </p:grpSpPr>
        <p:sp>
          <p:nvSpPr>
            <p:cNvPr id="21" name="Freeform 21"/>
            <p:cNvSpPr/>
            <p:nvPr/>
          </p:nvSpPr>
          <p:spPr>
            <a:xfrm>
              <a:off x="0" y="0"/>
              <a:ext cx="2647125" cy="509473"/>
            </a:xfrm>
            <a:custGeom>
              <a:avLst/>
              <a:gdLst/>
              <a:ahLst/>
              <a:cxnLst/>
              <a:rect l="l" t="t" r="r" b="b"/>
              <a:pathLst>
                <a:path w="2647125" h="509473">
                  <a:moveTo>
                    <a:pt x="164548" y="0"/>
                  </a:moveTo>
                  <a:lnTo>
                    <a:pt x="2482577" y="0"/>
                  </a:lnTo>
                  <a:cubicBezTo>
                    <a:pt x="2526218" y="0"/>
                    <a:pt x="2568071" y="17336"/>
                    <a:pt x="2598930" y="48195"/>
                  </a:cubicBezTo>
                  <a:cubicBezTo>
                    <a:pt x="2629789" y="79054"/>
                    <a:pt x="2647125" y="120907"/>
                    <a:pt x="2647125" y="164548"/>
                  </a:cubicBezTo>
                  <a:lnTo>
                    <a:pt x="2647125" y="344925"/>
                  </a:lnTo>
                  <a:cubicBezTo>
                    <a:pt x="2647125" y="388566"/>
                    <a:pt x="2629789" y="430419"/>
                    <a:pt x="2598930" y="461278"/>
                  </a:cubicBezTo>
                  <a:cubicBezTo>
                    <a:pt x="2568071" y="492136"/>
                    <a:pt x="2526218" y="509473"/>
                    <a:pt x="2482577" y="509473"/>
                  </a:cubicBezTo>
                  <a:lnTo>
                    <a:pt x="164548" y="509473"/>
                  </a:lnTo>
                  <a:cubicBezTo>
                    <a:pt x="120907" y="509473"/>
                    <a:pt x="79054" y="492136"/>
                    <a:pt x="48195" y="461278"/>
                  </a:cubicBezTo>
                  <a:cubicBezTo>
                    <a:pt x="17336" y="430419"/>
                    <a:pt x="0" y="388566"/>
                    <a:pt x="0" y="344925"/>
                  </a:cubicBezTo>
                  <a:lnTo>
                    <a:pt x="0" y="164548"/>
                  </a:lnTo>
                  <a:cubicBezTo>
                    <a:pt x="0" y="120907"/>
                    <a:pt x="17336" y="79054"/>
                    <a:pt x="48195" y="48195"/>
                  </a:cubicBezTo>
                  <a:cubicBezTo>
                    <a:pt x="79054" y="17336"/>
                    <a:pt x="120907" y="0"/>
                    <a:pt x="164548" y="0"/>
                  </a:cubicBezTo>
                  <a:close/>
                </a:path>
              </a:pathLst>
            </a:custGeom>
            <a:solidFill>
              <a:srgbClr val="F4F4F4"/>
            </a:solidFill>
            <a:ln w="19050" cap="rnd">
              <a:solidFill>
                <a:srgbClr val="E8B33C"/>
              </a:solidFill>
              <a:prstDash val="solid"/>
              <a:round/>
            </a:ln>
          </p:spPr>
          <p:txBody>
            <a:bodyPr/>
            <a:lstStyle/>
            <a:p>
              <a:endParaRPr lang="en-US"/>
            </a:p>
          </p:txBody>
        </p:sp>
        <p:sp>
          <p:nvSpPr>
            <p:cNvPr id="22" name="TextBox 22"/>
            <p:cNvSpPr txBox="1"/>
            <p:nvPr/>
          </p:nvSpPr>
          <p:spPr>
            <a:xfrm>
              <a:off x="0" y="-19050"/>
              <a:ext cx="2647125" cy="528523"/>
            </a:xfrm>
            <a:prstGeom prst="rect">
              <a:avLst/>
            </a:prstGeom>
          </p:spPr>
          <p:txBody>
            <a:bodyPr lIns="15240" tIns="15240" rIns="15240" bIns="15240" rtlCol="0" anchor="ctr"/>
            <a:lstStyle/>
            <a:p>
              <a:pPr algn="ctr">
                <a:lnSpc>
                  <a:spcPts val="727"/>
                </a:lnSpc>
              </a:pPr>
              <a:endParaRPr/>
            </a:p>
          </p:txBody>
        </p:sp>
      </p:grpSp>
      <p:grpSp>
        <p:nvGrpSpPr>
          <p:cNvPr id="23" name="Group 23"/>
          <p:cNvGrpSpPr/>
          <p:nvPr/>
        </p:nvGrpSpPr>
        <p:grpSpPr>
          <a:xfrm>
            <a:off x="2310139" y="3714771"/>
            <a:ext cx="913557" cy="913557"/>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B33C"/>
            </a:solidFill>
          </p:spPr>
          <p:txBody>
            <a:bodyPr/>
            <a:lstStyle/>
            <a:p>
              <a:endParaRPr lang="en-US"/>
            </a:p>
          </p:txBody>
        </p:sp>
        <p:sp>
          <p:nvSpPr>
            <p:cNvPr id="25" name="TextBox 25"/>
            <p:cNvSpPr txBox="1"/>
            <p:nvPr/>
          </p:nvSpPr>
          <p:spPr>
            <a:xfrm>
              <a:off x="76200" y="66675"/>
              <a:ext cx="660400" cy="669925"/>
            </a:xfrm>
            <a:prstGeom prst="rect">
              <a:avLst/>
            </a:prstGeom>
          </p:spPr>
          <p:txBody>
            <a:bodyPr lIns="15240" tIns="15240" rIns="15240" bIns="15240" rtlCol="0" anchor="ctr"/>
            <a:lstStyle/>
            <a:p>
              <a:pPr algn="ctr">
                <a:lnSpc>
                  <a:spcPts val="798"/>
                </a:lnSpc>
              </a:pPr>
              <a:endParaRPr/>
            </a:p>
          </p:txBody>
        </p:sp>
      </p:grpSp>
      <p:grpSp>
        <p:nvGrpSpPr>
          <p:cNvPr id="26" name="Group 26"/>
          <p:cNvGrpSpPr/>
          <p:nvPr/>
        </p:nvGrpSpPr>
        <p:grpSpPr>
          <a:xfrm>
            <a:off x="2310139" y="4713577"/>
            <a:ext cx="4737366" cy="898522"/>
            <a:chOff x="0" y="0"/>
            <a:chExt cx="2732244" cy="518217"/>
          </a:xfrm>
        </p:grpSpPr>
        <p:sp>
          <p:nvSpPr>
            <p:cNvPr id="27" name="Freeform 27"/>
            <p:cNvSpPr/>
            <p:nvPr/>
          </p:nvSpPr>
          <p:spPr>
            <a:xfrm>
              <a:off x="0" y="0"/>
              <a:ext cx="2732244" cy="518217"/>
            </a:xfrm>
            <a:custGeom>
              <a:avLst/>
              <a:gdLst/>
              <a:ahLst/>
              <a:cxnLst/>
              <a:rect l="l" t="t" r="r" b="b"/>
              <a:pathLst>
                <a:path w="2732244" h="518217">
                  <a:moveTo>
                    <a:pt x="163422" y="0"/>
                  </a:moveTo>
                  <a:lnTo>
                    <a:pt x="2568821" y="0"/>
                  </a:lnTo>
                  <a:cubicBezTo>
                    <a:pt x="2659077" y="0"/>
                    <a:pt x="2732244" y="73167"/>
                    <a:pt x="2732244" y="163422"/>
                  </a:cubicBezTo>
                  <a:lnTo>
                    <a:pt x="2732244" y="354794"/>
                  </a:lnTo>
                  <a:cubicBezTo>
                    <a:pt x="2732244" y="398137"/>
                    <a:pt x="2715026" y="439704"/>
                    <a:pt x="2684378" y="470351"/>
                  </a:cubicBezTo>
                  <a:cubicBezTo>
                    <a:pt x="2653731" y="500999"/>
                    <a:pt x="2612164" y="518217"/>
                    <a:pt x="2568821" y="518217"/>
                  </a:cubicBezTo>
                  <a:lnTo>
                    <a:pt x="163422" y="518217"/>
                  </a:lnTo>
                  <a:cubicBezTo>
                    <a:pt x="120080" y="518217"/>
                    <a:pt x="78513" y="500999"/>
                    <a:pt x="47865" y="470351"/>
                  </a:cubicBezTo>
                  <a:cubicBezTo>
                    <a:pt x="17218" y="439704"/>
                    <a:pt x="0" y="398137"/>
                    <a:pt x="0" y="354794"/>
                  </a:cubicBezTo>
                  <a:lnTo>
                    <a:pt x="0" y="163422"/>
                  </a:lnTo>
                  <a:cubicBezTo>
                    <a:pt x="0" y="120080"/>
                    <a:pt x="17218" y="78513"/>
                    <a:pt x="47865" y="47865"/>
                  </a:cubicBezTo>
                  <a:cubicBezTo>
                    <a:pt x="78513" y="17218"/>
                    <a:pt x="120080" y="0"/>
                    <a:pt x="163422" y="0"/>
                  </a:cubicBezTo>
                  <a:close/>
                </a:path>
              </a:pathLst>
            </a:custGeom>
            <a:solidFill>
              <a:srgbClr val="F4F4F4"/>
            </a:solidFill>
            <a:ln w="19050" cap="rnd">
              <a:solidFill>
                <a:srgbClr val="C2403D"/>
              </a:solidFill>
              <a:prstDash val="solid"/>
              <a:round/>
            </a:ln>
          </p:spPr>
          <p:txBody>
            <a:bodyPr/>
            <a:lstStyle/>
            <a:p>
              <a:endParaRPr lang="en-US"/>
            </a:p>
          </p:txBody>
        </p:sp>
        <p:sp>
          <p:nvSpPr>
            <p:cNvPr id="28" name="TextBox 28"/>
            <p:cNvSpPr txBox="1"/>
            <p:nvPr/>
          </p:nvSpPr>
          <p:spPr>
            <a:xfrm>
              <a:off x="0" y="-19050"/>
              <a:ext cx="2732244" cy="537267"/>
            </a:xfrm>
            <a:prstGeom prst="rect">
              <a:avLst/>
            </a:prstGeom>
          </p:spPr>
          <p:txBody>
            <a:bodyPr lIns="15240" tIns="15240" rIns="15240" bIns="15240" rtlCol="0" anchor="ctr"/>
            <a:lstStyle/>
            <a:p>
              <a:pPr algn="ctr">
                <a:lnSpc>
                  <a:spcPts val="727"/>
                </a:lnSpc>
              </a:pPr>
              <a:endParaRPr/>
            </a:p>
          </p:txBody>
        </p:sp>
      </p:grpSp>
      <p:grpSp>
        <p:nvGrpSpPr>
          <p:cNvPr id="29" name="Group 29"/>
          <p:cNvGrpSpPr/>
          <p:nvPr/>
        </p:nvGrpSpPr>
        <p:grpSpPr>
          <a:xfrm>
            <a:off x="2299198" y="4713577"/>
            <a:ext cx="887481" cy="887481"/>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2403D"/>
            </a:solidFill>
          </p:spPr>
          <p:txBody>
            <a:bodyPr/>
            <a:lstStyle/>
            <a:p>
              <a:endParaRPr lang="en-US"/>
            </a:p>
          </p:txBody>
        </p:sp>
        <p:sp>
          <p:nvSpPr>
            <p:cNvPr id="31" name="TextBox 31"/>
            <p:cNvSpPr txBox="1"/>
            <p:nvPr/>
          </p:nvSpPr>
          <p:spPr>
            <a:xfrm>
              <a:off x="76200" y="66675"/>
              <a:ext cx="660400" cy="669925"/>
            </a:xfrm>
            <a:prstGeom prst="rect">
              <a:avLst/>
            </a:prstGeom>
          </p:spPr>
          <p:txBody>
            <a:bodyPr lIns="15240" tIns="15240" rIns="15240" bIns="15240" rtlCol="0" anchor="ctr"/>
            <a:lstStyle/>
            <a:p>
              <a:pPr algn="ctr">
                <a:lnSpc>
                  <a:spcPts val="798"/>
                </a:lnSpc>
              </a:pPr>
              <a:endParaRPr/>
            </a:p>
          </p:txBody>
        </p:sp>
      </p:grpSp>
      <p:grpSp>
        <p:nvGrpSpPr>
          <p:cNvPr id="32" name="Group 32"/>
          <p:cNvGrpSpPr/>
          <p:nvPr/>
        </p:nvGrpSpPr>
        <p:grpSpPr>
          <a:xfrm>
            <a:off x="2327150" y="5674632"/>
            <a:ext cx="4647744" cy="907397"/>
            <a:chOff x="0" y="0"/>
            <a:chExt cx="2654338" cy="518217"/>
          </a:xfrm>
        </p:grpSpPr>
        <p:sp>
          <p:nvSpPr>
            <p:cNvPr id="33" name="Freeform 33"/>
            <p:cNvSpPr/>
            <p:nvPr/>
          </p:nvSpPr>
          <p:spPr>
            <a:xfrm>
              <a:off x="0" y="0"/>
              <a:ext cx="2654338" cy="518217"/>
            </a:xfrm>
            <a:custGeom>
              <a:avLst/>
              <a:gdLst/>
              <a:ahLst/>
              <a:cxnLst/>
              <a:rect l="l" t="t" r="r" b="b"/>
              <a:pathLst>
                <a:path w="2654338" h="518217">
                  <a:moveTo>
                    <a:pt x="166574" y="0"/>
                  </a:moveTo>
                  <a:lnTo>
                    <a:pt x="2487764" y="0"/>
                  </a:lnTo>
                  <a:cubicBezTo>
                    <a:pt x="2579760" y="0"/>
                    <a:pt x="2654338" y="74578"/>
                    <a:pt x="2654338" y="166574"/>
                  </a:cubicBezTo>
                  <a:lnTo>
                    <a:pt x="2654338" y="351643"/>
                  </a:lnTo>
                  <a:cubicBezTo>
                    <a:pt x="2654338" y="443639"/>
                    <a:pt x="2579760" y="518217"/>
                    <a:pt x="2487764" y="518217"/>
                  </a:cubicBezTo>
                  <a:lnTo>
                    <a:pt x="166574" y="518217"/>
                  </a:lnTo>
                  <a:cubicBezTo>
                    <a:pt x="74578" y="518217"/>
                    <a:pt x="0" y="443639"/>
                    <a:pt x="0" y="351643"/>
                  </a:cubicBezTo>
                  <a:lnTo>
                    <a:pt x="0" y="166574"/>
                  </a:lnTo>
                  <a:cubicBezTo>
                    <a:pt x="0" y="74578"/>
                    <a:pt x="74578" y="0"/>
                    <a:pt x="166574" y="0"/>
                  </a:cubicBezTo>
                  <a:close/>
                </a:path>
              </a:pathLst>
            </a:custGeom>
            <a:solidFill>
              <a:srgbClr val="F4F4F4"/>
            </a:solidFill>
            <a:ln w="19050" cap="rnd">
              <a:solidFill>
                <a:srgbClr val="883A34"/>
              </a:solidFill>
              <a:prstDash val="solid"/>
              <a:round/>
            </a:ln>
          </p:spPr>
          <p:txBody>
            <a:bodyPr/>
            <a:lstStyle/>
            <a:p>
              <a:endParaRPr lang="en-US"/>
            </a:p>
          </p:txBody>
        </p:sp>
        <p:sp>
          <p:nvSpPr>
            <p:cNvPr id="34" name="TextBox 34"/>
            <p:cNvSpPr txBox="1"/>
            <p:nvPr/>
          </p:nvSpPr>
          <p:spPr>
            <a:xfrm>
              <a:off x="0" y="-19050"/>
              <a:ext cx="2654338" cy="537267"/>
            </a:xfrm>
            <a:prstGeom prst="rect">
              <a:avLst/>
            </a:prstGeom>
          </p:spPr>
          <p:txBody>
            <a:bodyPr lIns="15240" tIns="15240" rIns="15240" bIns="15240" rtlCol="0" anchor="ctr"/>
            <a:lstStyle/>
            <a:p>
              <a:pPr algn="ctr">
                <a:lnSpc>
                  <a:spcPts val="727"/>
                </a:lnSpc>
              </a:pPr>
              <a:endParaRPr/>
            </a:p>
          </p:txBody>
        </p:sp>
      </p:grpSp>
      <p:grpSp>
        <p:nvGrpSpPr>
          <p:cNvPr id="35" name="Group 35"/>
          <p:cNvGrpSpPr/>
          <p:nvPr/>
        </p:nvGrpSpPr>
        <p:grpSpPr>
          <a:xfrm>
            <a:off x="2327150" y="5674632"/>
            <a:ext cx="907397" cy="907397"/>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83A34"/>
            </a:solidFill>
          </p:spPr>
          <p:txBody>
            <a:bodyPr/>
            <a:lstStyle/>
            <a:p>
              <a:endParaRPr lang="en-US"/>
            </a:p>
          </p:txBody>
        </p:sp>
        <p:sp>
          <p:nvSpPr>
            <p:cNvPr id="37" name="TextBox 37"/>
            <p:cNvSpPr txBox="1"/>
            <p:nvPr/>
          </p:nvSpPr>
          <p:spPr>
            <a:xfrm>
              <a:off x="76200" y="66675"/>
              <a:ext cx="660400" cy="669925"/>
            </a:xfrm>
            <a:prstGeom prst="rect">
              <a:avLst/>
            </a:prstGeom>
          </p:spPr>
          <p:txBody>
            <a:bodyPr lIns="15240" tIns="15240" rIns="15240" bIns="15240" rtlCol="0" anchor="ctr"/>
            <a:lstStyle/>
            <a:p>
              <a:pPr algn="ctr">
                <a:lnSpc>
                  <a:spcPts val="798"/>
                </a:lnSpc>
              </a:pPr>
              <a:endParaRPr/>
            </a:p>
          </p:txBody>
        </p:sp>
      </p:grpSp>
      <p:grpSp>
        <p:nvGrpSpPr>
          <p:cNvPr id="38" name="Group 38"/>
          <p:cNvGrpSpPr>
            <a:grpSpLocks noChangeAspect="1"/>
          </p:cNvGrpSpPr>
          <p:nvPr/>
        </p:nvGrpSpPr>
        <p:grpSpPr>
          <a:xfrm>
            <a:off x="6129456" y="732004"/>
            <a:ext cx="912483" cy="912483"/>
            <a:chOff x="0" y="0"/>
            <a:chExt cx="6355080" cy="6355080"/>
          </a:xfrm>
        </p:grpSpPr>
        <p:sp>
          <p:nvSpPr>
            <p:cNvPr id="39" name="Freeform 39"/>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022A3D"/>
            </a:solidFill>
          </p:spPr>
          <p:txBody>
            <a:bodyPr/>
            <a:lstStyle/>
            <a:p>
              <a:endParaRPr lang="en-US"/>
            </a:p>
          </p:txBody>
        </p:sp>
      </p:grpSp>
      <p:grpSp>
        <p:nvGrpSpPr>
          <p:cNvPr id="40" name="Group 40"/>
          <p:cNvGrpSpPr>
            <a:grpSpLocks noChangeAspect="1"/>
          </p:cNvGrpSpPr>
          <p:nvPr/>
        </p:nvGrpSpPr>
        <p:grpSpPr>
          <a:xfrm>
            <a:off x="6094297" y="1726865"/>
            <a:ext cx="912968" cy="912968"/>
            <a:chOff x="0" y="0"/>
            <a:chExt cx="6355080" cy="6355080"/>
          </a:xfrm>
        </p:grpSpPr>
        <p:sp>
          <p:nvSpPr>
            <p:cNvPr id="41" name="Freeform 41"/>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15372"/>
            </a:solidFill>
          </p:spPr>
          <p:txBody>
            <a:bodyPr/>
            <a:lstStyle/>
            <a:p>
              <a:endParaRPr lang="en-US"/>
            </a:p>
          </p:txBody>
        </p:sp>
      </p:grpSp>
      <p:grpSp>
        <p:nvGrpSpPr>
          <p:cNvPr id="42" name="Group 42"/>
          <p:cNvGrpSpPr>
            <a:grpSpLocks noChangeAspect="1"/>
          </p:cNvGrpSpPr>
          <p:nvPr/>
        </p:nvGrpSpPr>
        <p:grpSpPr>
          <a:xfrm>
            <a:off x="6106936" y="2702365"/>
            <a:ext cx="926876" cy="926876"/>
            <a:chOff x="0" y="0"/>
            <a:chExt cx="6355080" cy="6355080"/>
          </a:xfrm>
        </p:grpSpPr>
        <p:sp>
          <p:nvSpPr>
            <p:cNvPr id="43" name="Freeform 43"/>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4B9B9D"/>
            </a:solidFill>
          </p:spPr>
          <p:txBody>
            <a:bodyPr/>
            <a:lstStyle/>
            <a:p>
              <a:endParaRPr lang="en-US"/>
            </a:p>
          </p:txBody>
        </p:sp>
      </p:grpSp>
      <p:grpSp>
        <p:nvGrpSpPr>
          <p:cNvPr id="44" name="Group 44"/>
          <p:cNvGrpSpPr>
            <a:grpSpLocks noChangeAspect="1"/>
          </p:cNvGrpSpPr>
          <p:nvPr/>
        </p:nvGrpSpPr>
        <p:grpSpPr>
          <a:xfrm>
            <a:off x="6086192" y="3715683"/>
            <a:ext cx="921072" cy="921072"/>
            <a:chOff x="0" y="0"/>
            <a:chExt cx="6355080" cy="6355080"/>
          </a:xfrm>
        </p:grpSpPr>
        <p:sp>
          <p:nvSpPr>
            <p:cNvPr id="45" name="Freeform 45"/>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E8B33C"/>
            </a:solidFill>
          </p:spPr>
          <p:txBody>
            <a:bodyPr/>
            <a:lstStyle/>
            <a:p>
              <a:endParaRPr lang="en-US"/>
            </a:p>
          </p:txBody>
        </p:sp>
      </p:grpSp>
      <p:grpSp>
        <p:nvGrpSpPr>
          <p:cNvPr id="46" name="Group 46"/>
          <p:cNvGrpSpPr>
            <a:grpSpLocks noChangeAspect="1"/>
          </p:cNvGrpSpPr>
          <p:nvPr/>
        </p:nvGrpSpPr>
        <p:grpSpPr>
          <a:xfrm>
            <a:off x="6148983" y="4713577"/>
            <a:ext cx="898522" cy="898522"/>
            <a:chOff x="0" y="0"/>
            <a:chExt cx="6355080" cy="6355080"/>
          </a:xfrm>
        </p:grpSpPr>
        <p:sp>
          <p:nvSpPr>
            <p:cNvPr id="47" name="Freeform 47"/>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C2403D"/>
            </a:solidFill>
          </p:spPr>
          <p:txBody>
            <a:bodyPr/>
            <a:lstStyle/>
            <a:p>
              <a:endParaRPr lang="en-US"/>
            </a:p>
          </p:txBody>
        </p:sp>
      </p:grpSp>
      <p:grpSp>
        <p:nvGrpSpPr>
          <p:cNvPr id="48" name="Group 48"/>
          <p:cNvGrpSpPr>
            <a:grpSpLocks noChangeAspect="1"/>
          </p:cNvGrpSpPr>
          <p:nvPr/>
        </p:nvGrpSpPr>
        <p:grpSpPr>
          <a:xfrm>
            <a:off x="6067496" y="5678365"/>
            <a:ext cx="907397" cy="907397"/>
            <a:chOff x="0" y="0"/>
            <a:chExt cx="6355080" cy="6355080"/>
          </a:xfrm>
        </p:grpSpPr>
        <p:sp>
          <p:nvSpPr>
            <p:cNvPr id="49" name="Freeform 49"/>
            <p:cNvSpPr/>
            <p:nvPr/>
          </p:nvSpPr>
          <p:spPr>
            <a:xfrm>
              <a:off x="0" y="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883A34"/>
            </a:solidFill>
          </p:spPr>
          <p:txBody>
            <a:bodyPr/>
            <a:lstStyle/>
            <a:p>
              <a:endParaRPr lang="en-US"/>
            </a:p>
          </p:txBody>
        </p:sp>
      </p:grpSp>
      <p:grpSp>
        <p:nvGrpSpPr>
          <p:cNvPr id="50" name="Group 50"/>
          <p:cNvGrpSpPr/>
          <p:nvPr/>
        </p:nvGrpSpPr>
        <p:grpSpPr>
          <a:xfrm>
            <a:off x="7690358" y="1726865"/>
            <a:ext cx="1331722" cy="912968"/>
            <a:chOff x="0" y="0"/>
            <a:chExt cx="747322" cy="512329"/>
          </a:xfrm>
        </p:grpSpPr>
        <p:sp>
          <p:nvSpPr>
            <p:cNvPr id="51" name="Freeform 51"/>
            <p:cNvSpPr/>
            <p:nvPr/>
          </p:nvSpPr>
          <p:spPr>
            <a:xfrm>
              <a:off x="0" y="0"/>
              <a:ext cx="747322" cy="512329"/>
            </a:xfrm>
            <a:custGeom>
              <a:avLst/>
              <a:gdLst/>
              <a:ahLst/>
              <a:cxnLst/>
              <a:rect l="l" t="t" r="r" b="b"/>
              <a:pathLst>
                <a:path w="747322" h="512329">
                  <a:moveTo>
                    <a:pt x="209285" y="0"/>
                  </a:moveTo>
                  <a:lnTo>
                    <a:pt x="538037" y="0"/>
                  </a:lnTo>
                  <a:cubicBezTo>
                    <a:pt x="593543" y="0"/>
                    <a:pt x="646775" y="22050"/>
                    <a:pt x="686024" y="61298"/>
                  </a:cubicBezTo>
                  <a:cubicBezTo>
                    <a:pt x="725272" y="100547"/>
                    <a:pt x="747322" y="153779"/>
                    <a:pt x="747322" y="209285"/>
                  </a:cubicBezTo>
                  <a:lnTo>
                    <a:pt x="747322" y="303045"/>
                  </a:lnTo>
                  <a:cubicBezTo>
                    <a:pt x="747322" y="418629"/>
                    <a:pt x="653622" y="512329"/>
                    <a:pt x="538037" y="512329"/>
                  </a:cubicBezTo>
                  <a:lnTo>
                    <a:pt x="209285" y="512329"/>
                  </a:lnTo>
                  <a:cubicBezTo>
                    <a:pt x="93700" y="512329"/>
                    <a:pt x="0" y="418629"/>
                    <a:pt x="0" y="303045"/>
                  </a:cubicBezTo>
                  <a:lnTo>
                    <a:pt x="0" y="209285"/>
                  </a:lnTo>
                  <a:cubicBezTo>
                    <a:pt x="0" y="93700"/>
                    <a:pt x="93700" y="0"/>
                    <a:pt x="209285" y="0"/>
                  </a:cubicBezTo>
                  <a:close/>
                </a:path>
              </a:pathLst>
            </a:custGeom>
            <a:solidFill>
              <a:srgbClr val="115372"/>
            </a:solidFill>
          </p:spPr>
          <p:txBody>
            <a:bodyPr/>
            <a:lstStyle/>
            <a:p>
              <a:endParaRPr lang="en-US"/>
            </a:p>
          </p:txBody>
        </p:sp>
        <p:sp>
          <p:nvSpPr>
            <p:cNvPr id="52" name="TextBox 52"/>
            <p:cNvSpPr txBox="1"/>
            <p:nvPr/>
          </p:nvSpPr>
          <p:spPr>
            <a:xfrm>
              <a:off x="0" y="-19050"/>
              <a:ext cx="747322" cy="531379"/>
            </a:xfrm>
            <a:prstGeom prst="rect">
              <a:avLst/>
            </a:prstGeom>
          </p:spPr>
          <p:txBody>
            <a:bodyPr lIns="15240" tIns="15240" rIns="15240" bIns="15240" rtlCol="0" anchor="ctr"/>
            <a:lstStyle/>
            <a:p>
              <a:pPr algn="ctr">
                <a:lnSpc>
                  <a:spcPts val="727"/>
                </a:lnSpc>
              </a:pPr>
              <a:endParaRPr/>
            </a:p>
          </p:txBody>
        </p:sp>
      </p:grpSp>
      <p:grpSp>
        <p:nvGrpSpPr>
          <p:cNvPr id="53" name="Group 53"/>
          <p:cNvGrpSpPr/>
          <p:nvPr/>
        </p:nvGrpSpPr>
        <p:grpSpPr>
          <a:xfrm>
            <a:off x="7690358" y="2708060"/>
            <a:ext cx="1331722" cy="930801"/>
            <a:chOff x="0" y="0"/>
            <a:chExt cx="792998" cy="554263"/>
          </a:xfrm>
        </p:grpSpPr>
        <p:sp>
          <p:nvSpPr>
            <p:cNvPr id="54" name="Freeform 54"/>
            <p:cNvSpPr/>
            <p:nvPr/>
          </p:nvSpPr>
          <p:spPr>
            <a:xfrm>
              <a:off x="0" y="0"/>
              <a:ext cx="792998" cy="554263"/>
            </a:xfrm>
            <a:custGeom>
              <a:avLst/>
              <a:gdLst/>
              <a:ahLst/>
              <a:cxnLst/>
              <a:rect l="l" t="t" r="r" b="b"/>
              <a:pathLst>
                <a:path w="792998" h="554263">
                  <a:moveTo>
                    <a:pt x="209285" y="0"/>
                  </a:moveTo>
                  <a:lnTo>
                    <a:pt x="583713" y="0"/>
                  </a:lnTo>
                  <a:cubicBezTo>
                    <a:pt x="639219" y="0"/>
                    <a:pt x="692452" y="22050"/>
                    <a:pt x="731700" y="61298"/>
                  </a:cubicBezTo>
                  <a:cubicBezTo>
                    <a:pt x="770949" y="100547"/>
                    <a:pt x="792998" y="153779"/>
                    <a:pt x="792998" y="209285"/>
                  </a:cubicBezTo>
                  <a:lnTo>
                    <a:pt x="792998" y="344978"/>
                  </a:lnTo>
                  <a:cubicBezTo>
                    <a:pt x="792998" y="460563"/>
                    <a:pt x="699298" y="554263"/>
                    <a:pt x="583713" y="554263"/>
                  </a:cubicBezTo>
                  <a:lnTo>
                    <a:pt x="209285" y="554263"/>
                  </a:lnTo>
                  <a:cubicBezTo>
                    <a:pt x="153779" y="554263"/>
                    <a:pt x="100547" y="532213"/>
                    <a:pt x="61298" y="492965"/>
                  </a:cubicBezTo>
                  <a:cubicBezTo>
                    <a:pt x="22050" y="453716"/>
                    <a:pt x="0" y="400484"/>
                    <a:pt x="0" y="344978"/>
                  </a:cubicBezTo>
                  <a:lnTo>
                    <a:pt x="0" y="209285"/>
                  </a:lnTo>
                  <a:cubicBezTo>
                    <a:pt x="0" y="93700"/>
                    <a:pt x="93700" y="0"/>
                    <a:pt x="209285" y="0"/>
                  </a:cubicBezTo>
                  <a:close/>
                </a:path>
              </a:pathLst>
            </a:custGeom>
            <a:solidFill>
              <a:srgbClr val="4B9B9D"/>
            </a:solidFill>
          </p:spPr>
          <p:txBody>
            <a:bodyPr/>
            <a:lstStyle/>
            <a:p>
              <a:endParaRPr lang="en-US"/>
            </a:p>
          </p:txBody>
        </p:sp>
        <p:sp>
          <p:nvSpPr>
            <p:cNvPr id="55" name="TextBox 55"/>
            <p:cNvSpPr txBox="1"/>
            <p:nvPr/>
          </p:nvSpPr>
          <p:spPr>
            <a:xfrm>
              <a:off x="0" y="-19050"/>
              <a:ext cx="792998" cy="573313"/>
            </a:xfrm>
            <a:prstGeom prst="rect">
              <a:avLst/>
            </a:prstGeom>
          </p:spPr>
          <p:txBody>
            <a:bodyPr lIns="15240" tIns="15240" rIns="15240" bIns="15240" rtlCol="0" anchor="ctr"/>
            <a:lstStyle/>
            <a:p>
              <a:pPr algn="ctr">
                <a:lnSpc>
                  <a:spcPts val="727"/>
                </a:lnSpc>
              </a:pPr>
              <a:endParaRPr/>
            </a:p>
          </p:txBody>
        </p:sp>
      </p:grpSp>
      <p:grpSp>
        <p:nvGrpSpPr>
          <p:cNvPr id="56" name="Group 56"/>
          <p:cNvGrpSpPr/>
          <p:nvPr/>
        </p:nvGrpSpPr>
        <p:grpSpPr>
          <a:xfrm>
            <a:off x="7690358" y="3715683"/>
            <a:ext cx="1331722" cy="876528"/>
            <a:chOff x="0" y="0"/>
            <a:chExt cx="786083" cy="517393"/>
          </a:xfrm>
        </p:grpSpPr>
        <p:sp>
          <p:nvSpPr>
            <p:cNvPr id="57" name="Freeform 57"/>
            <p:cNvSpPr/>
            <p:nvPr/>
          </p:nvSpPr>
          <p:spPr>
            <a:xfrm>
              <a:off x="0" y="0"/>
              <a:ext cx="786083" cy="517393"/>
            </a:xfrm>
            <a:custGeom>
              <a:avLst/>
              <a:gdLst/>
              <a:ahLst/>
              <a:cxnLst/>
              <a:rect l="l" t="t" r="r" b="b"/>
              <a:pathLst>
                <a:path w="786083" h="517393">
                  <a:moveTo>
                    <a:pt x="209285" y="0"/>
                  </a:moveTo>
                  <a:lnTo>
                    <a:pt x="576798" y="0"/>
                  </a:lnTo>
                  <a:cubicBezTo>
                    <a:pt x="692383" y="0"/>
                    <a:pt x="786083" y="93700"/>
                    <a:pt x="786083" y="209285"/>
                  </a:cubicBezTo>
                  <a:lnTo>
                    <a:pt x="786083" y="308108"/>
                  </a:lnTo>
                  <a:cubicBezTo>
                    <a:pt x="786083" y="423693"/>
                    <a:pt x="692383" y="517393"/>
                    <a:pt x="576798" y="517393"/>
                  </a:cubicBezTo>
                  <a:lnTo>
                    <a:pt x="209285" y="517393"/>
                  </a:lnTo>
                  <a:cubicBezTo>
                    <a:pt x="93700" y="517393"/>
                    <a:pt x="0" y="423693"/>
                    <a:pt x="0" y="308108"/>
                  </a:cubicBezTo>
                  <a:lnTo>
                    <a:pt x="0" y="209285"/>
                  </a:lnTo>
                  <a:cubicBezTo>
                    <a:pt x="0" y="93700"/>
                    <a:pt x="93700" y="0"/>
                    <a:pt x="209285" y="0"/>
                  </a:cubicBezTo>
                  <a:close/>
                </a:path>
              </a:pathLst>
            </a:custGeom>
            <a:solidFill>
              <a:srgbClr val="E8B33C"/>
            </a:solidFill>
          </p:spPr>
          <p:txBody>
            <a:bodyPr/>
            <a:lstStyle/>
            <a:p>
              <a:endParaRPr lang="en-US"/>
            </a:p>
          </p:txBody>
        </p:sp>
        <p:sp>
          <p:nvSpPr>
            <p:cNvPr id="58" name="TextBox 58"/>
            <p:cNvSpPr txBox="1"/>
            <p:nvPr/>
          </p:nvSpPr>
          <p:spPr>
            <a:xfrm>
              <a:off x="0" y="-19050"/>
              <a:ext cx="786083" cy="536443"/>
            </a:xfrm>
            <a:prstGeom prst="rect">
              <a:avLst/>
            </a:prstGeom>
          </p:spPr>
          <p:txBody>
            <a:bodyPr lIns="15240" tIns="15240" rIns="15240" bIns="15240" rtlCol="0" anchor="ctr"/>
            <a:lstStyle/>
            <a:p>
              <a:pPr algn="ctr">
                <a:lnSpc>
                  <a:spcPts val="727"/>
                </a:lnSpc>
              </a:pPr>
              <a:endParaRPr/>
            </a:p>
          </p:txBody>
        </p:sp>
      </p:grpSp>
      <p:grpSp>
        <p:nvGrpSpPr>
          <p:cNvPr id="59" name="Group 59"/>
          <p:cNvGrpSpPr/>
          <p:nvPr/>
        </p:nvGrpSpPr>
        <p:grpSpPr>
          <a:xfrm>
            <a:off x="7690358" y="4713577"/>
            <a:ext cx="1331722" cy="887481"/>
            <a:chOff x="0" y="0"/>
            <a:chExt cx="821266" cy="547305"/>
          </a:xfrm>
        </p:grpSpPr>
        <p:sp>
          <p:nvSpPr>
            <p:cNvPr id="60" name="Freeform 60"/>
            <p:cNvSpPr/>
            <p:nvPr/>
          </p:nvSpPr>
          <p:spPr>
            <a:xfrm>
              <a:off x="0" y="0"/>
              <a:ext cx="821266" cy="547305"/>
            </a:xfrm>
            <a:custGeom>
              <a:avLst/>
              <a:gdLst/>
              <a:ahLst/>
              <a:cxnLst/>
              <a:rect l="l" t="t" r="r" b="b"/>
              <a:pathLst>
                <a:path w="821266" h="547305">
                  <a:moveTo>
                    <a:pt x="209285" y="0"/>
                  </a:moveTo>
                  <a:lnTo>
                    <a:pt x="611982" y="0"/>
                  </a:lnTo>
                  <a:cubicBezTo>
                    <a:pt x="667487" y="0"/>
                    <a:pt x="720720" y="22050"/>
                    <a:pt x="759968" y="61298"/>
                  </a:cubicBezTo>
                  <a:cubicBezTo>
                    <a:pt x="799217" y="100547"/>
                    <a:pt x="821266" y="153779"/>
                    <a:pt x="821266" y="209285"/>
                  </a:cubicBezTo>
                  <a:lnTo>
                    <a:pt x="821266" y="338021"/>
                  </a:lnTo>
                  <a:cubicBezTo>
                    <a:pt x="821266" y="453605"/>
                    <a:pt x="727566" y="547305"/>
                    <a:pt x="611982" y="547305"/>
                  </a:cubicBezTo>
                  <a:lnTo>
                    <a:pt x="209285" y="547305"/>
                  </a:lnTo>
                  <a:cubicBezTo>
                    <a:pt x="93700" y="547305"/>
                    <a:pt x="0" y="453605"/>
                    <a:pt x="0" y="338021"/>
                  </a:cubicBezTo>
                  <a:lnTo>
                    <a:pt x="0" y="209285"/>
                  </a:lnTo>
                  <a:cubicBezTo>
                    <a:pt x="0" y="93700"/>
                    <a:pt x="93700" y="0"/>
                    <a:pt x="209285" y="0"/>
                  </a:cubicBezTo>
                  <a:close/>
                </a:path>
              </a:pathLst>
            </a:custGeom>
            <a:solidFill>
              <a:srgbClr val="C2403D"/>
            </a:solidFill>
          </p:spPr>
          <p:txBody>
            <a:bodyPr/>
            <a:lstStyle/>
            <a:p>
              <a:endParaRPr lang="en-US"/>
            </a:p>
          </p:txBody>
        </p:sp>
        <p:sp>
          <p:nvSpPr>
            <p:cNvPr id="61" name="TextBox 61"/>
            <p:cNvSpPr txBox="1"/>
            <p:nvPr/>
          </p:nvSpPr>
          <p:spPr>
            <a:xfrm>
              <a:off x="0" y="-19050"/>
              <a:ext cx="821266" cy="566355"/>
            </a:xfrm>
            <a:prstGeom prst="rect">
              <a:avLst/>
            </a:prstGeom>
          </p:spPr>
          <p:txBody>
            <a:bodyPr lIns="15240" tIns="15240" rIns="15240" bIns="15240" rtlCol="0" anchor="ctr"/>
            <a:lstStyle/>
            <a:p>
              <a:pPr algn="ctr">
                <a:lnSpc>
                  <a:spcPts val="727"/>
                </a:lnSpc>
              </a:pPr>
              <a:endParaRPr/>
            </a:p>
          </p:txBody>
        </p:sp>
      </p:grpSp>
      <p:grpSp>
        <p:nvGrpSpPr>
          <p:cNvPr id="62" name="Group 62"/>
          <p:cNvGrpSpPr/>
          <p:nvPr/>
        </p:nvGrpSpPr>
        <p:grpSpPr>
          <a:xfrm>
            <a:off x="7690358" y="5726124"/>
            <a:ext cx="1331722" cy="835904"/>
            <a:chOff x="0" y="0"/>
            <a:chExt cx="863577" cy="542055"/>
          </a:xfrm>
        </p:grpSpPr>
        <p:sp>
          <p:nvSpPr>
            <p:cNvPr id="63" name="Freeform 63"/>
            <p:cNvSpPr/>
            <p:nvPr/>
          </p:nvSpPr>
          <p:spPr>
            <a:xfrm>
              <a:off x="0" y="0"/>
              <a:ext cx="863577" cy="542055"/>
            </a:xfrm>
            <a:custGeom>
              <a:avLst/>
              <a:gdLst/>
              <a:ahLst/>
              <a:cxnLst/>
              <a:rect l="l" t="t" r="r" b="b"/>
              <a:pathLst>
                <a:path w="863577" h="542055">
                  <a:moveTo>
                    <a:pt x="209285" y="0"/>
                  </a:moveTo>
                  <a:lnTo>
                    <a:pt x="654292" y="0"/>
                  </a:lnTo>
                  <a:cubicBezTo>
                    <a:pt x="769877" y="0"/>
                    <a:pt x="863577" y="93700"/>
                    <a:pt x="863577" y="209285"/>
                  </a:cubicBezTo>
                  <a:lnTo>
                    <a:pt x="863577" y="332771"/>
                  </a:lnTo>
                  <a:cubicBezTo>
                    <a:pt x="863577" y="448355"/>
                    <a:pt x="769877" y="542055"/>
                    <a:pt x="654292" y="542055"/>
                  </a:cubicBezTo>
                  <a:lnTo>
                    <a:pt x="209285" y="542055"/>
                  </a:lnTo>
                  <a:cubicBezTo>
                    <a:pt x="93700" y="542055"/>
                    <a:pt x="0" y="448355"/>
                    <a:pt x="0" y="332771"/>
                  </a:cubicBezTo>
                  <a:lnTo>
                    <a:pt x="0" y="209285"/>
                  </a:lnTo>
                  <a:cubicBezTo>
                    <a:pt x="0" y="93700"/>
                    <a:pt x="93700" y="0"/>
                    <a:pt x="209285" y="0"/>
                  </a:cubicBezTo>
                  <a:close/>
                </a:path>
              </a:pathLst>
            </a:custGeom>
            <a:solidFill>
              <a:srgbClr val="883A34"/>
            </a:solidFill>
          </p:spPr>
          <p:txBody>
            <a:bodyPr/>
            <a:lstStyle/>
            <a:p>
              <a:endParaRPr lang="en-US"/>
            </a:p>
          </p:txBody>
        </p:sp>
        <p:sp>
          <p:nvSpPr>
            <p:cNvPr id="64" name="TextBox 64"/>
            <p:cNvSpPr txBox="1"/>
            <p:nvPr/>
          </p:nvSpPr>
          <p:spPr>
            <a:xfrm>
              <a:off x="0" y="-19050"/>
              <a:ext cx="863577" cy="561105"/>
            </a:xfrm>
            <a:prstGeom prst="rect">
              <a:avLst/>
            </a:prstGeom>
          </p:spPr>
          <p:txBody>
            <a:bodyPr lIns="15240" tIns="15240" rIns="15240" bIns="15240" rtlCol="0" anchor="ctr"/>
            <a:lstStyle/>
            <a:p>
              <a:pPr algn="ctr">
                <a:lnSpc>
                  <a:spcPts val="727"/>
                </a:lnSpc>
              </a:pPr>
              <a:endParaRPr/>
            </a:p>
          </p:txBody>
        </p:sp>
      </p:grpSp>
      <p:grpSp>
        <p:nvGrpSpPr>
          <p:cNvPr id="65" name="Group 65"/>
          <p:cNvGrpSpPr/>
          <p:nvPr/>
        </p:nvGrpSpPr>
        <p:grpSpPr>
          <a:xfrm>
            <a:off x="7690358" y="731520"/>
            <a:ext cx="1331722" cy="912968"/>
            <a:chOff x="0" y="0"/>
            <a:chExt cx="747322" cy="512329"/>
          </a:xfrm>
        </p:grpSpPr>
        <p:sp>
          <p:nvSpPr>
            <p:cNvPr id="66" name="Freeform 66"/>
            <p:cNvSpPr/>
            <p:nvPr/>
          </p:nvSpPr>
          <p:spPr>
            <a:xfrm>
              <a:off x="0" y="0"/>
              <a:ext cx="747322" cy="512329"/>
            </a:xfrm>
            <a:custGeom>
              <a:avLst/>
              <a:gdLst/>
              <a:ahLst/>
              <a:cxnLst/>
              <a:rect l="l" t="t" r="r" b="b"/>
              <a:pathLst>
                <a:path w="747322" h="512329">
                  <a:moveTo>
                    <a:pt x="209285" y="0"/>
                  </a:moveTo>
                  <a:lnTo>
                    <a:pt x="538037" y="0"/>
                  </a:lnTo>
                  <a:cubicBezTo>
                    <a:pt x="593543" y="0"/>
                    <a:pt x="646775" y="22050"/>
                    <a:pt x="686024" y="61298"/>
                  </a:cubicBezTo>
                  <a:cubicBezTo>
                    <a:pt x="725272" y="100547"/>
                    <a:pt x="747322" y="153779"/>
                    <a:pt x="747322" y="209285"/>
                  </a:cubicBezTo>
                  <a:lnTo>
                    <a:pt x="747322" y="303045"/>
                  </a:lnTo>
                  <a:cubicBezTo>
                    <a:pt x="747322" y="418629"/>
                    <a:pt x="653622" y="512329"/>
                    <a:pt x="538037" y="512329"/>
                  </a:cubicBezTo>
                  <a:lnTo>
                    <a:pt x="209285" y="512329"/>
                  </a:lnTo>
                  <a:cubicBezTo>
                    <a:pt x="93700" y="512329"/>
                    <a:pt x="0" y="418629"/>
                    <a:pt x="0" y="303045"/>
                  </a:cubicBezTo>
                  <a:lnTo>
                    <a:pt x="0" y="209285"/>
                  </a:lnTo>
                  <a:cubicBezTo>
                    <a:pt x="0" y="93700"/>
                    <a:pt x="93700" y="0"/>
                    <a:pt x="209285" y="0"/>
                  </a:cubicBezTo>
                  <a:close/>
                </a:path>
              </a:pathLst>
            </a:custGeom>
            <a:solidFill>
              <a:srgbClr val="20335F"/>
            </a:solidFill>
          </p:spPr>
          <p:txBody>
            <a:bodyPr/>
            <a:lstStyle/>
            <a:p>
              <a:endParaRPr lang="en-US"/>
            </a:p>
          </p:txBody>
        </p:sp>
        <p:sp>
          <p:nvSpPr>
            <p:cNvPr id="67" name="TextBox 67"/>
            <p:cNvSpPr txBox="1"/>
            <p:nvPr/>
          </p:nvSpPr>
          <p:spPr>
            <a:xfrm>
              <a:off x="0" y="-19050"/>
              <a:ext cx="747322" cy="531379"/>
            </a:xfrm>
            <a:prstGeom prst="rect">
              <a:avLst/>
            </a:prstGeom>
          </p:spPr>
          <p:txBody>
            <a:bodyPr lIns="15240" tIns="15240" rIns="15240" bIns="15240" rtlCol="0" anchor="ctr"/>
            <a:lstStyle/>
            <a:p>
              <a:pPr algn="ctr">
                <a:lnSpc>
                  <a:spcPts val="727"/>
                </a:lnSpc>
              </a:pPr>
              <a:endParaRPr/>
            </a:p>
          </p:txBody>
        </p:sp>
      </p:grpSp>
      <p:sp>
        <p:nvSpPr>
          <p:cNvPr id="68" name="Freeform 68"/>
          <p:cNvSpPr/>
          <p:nvPr/>
        </p:nvSpPr>
        <p:spPr>
          <a:xfrm>
            <a:off x="6269567" y="851999"/>
            <a:ext cx="632261" cy="604672"/>
          </a:xfrm>
          <a:custGeom>
            <a:avLst/>
            <a:gdLst/>
            <a:ahLst/>
            <a:cxnLst/>
            <a:rect l="l" t="t" r="r" b="b"/>
            <a:pathLst>
              <a:path w="632261" h="604672">
                <a:moveTo>
                  <a:pt x="0" y="0"/>
                </a:moveTo>
                <a:lnTo>
                  <a:pt x="632261" y="0"/>
                </a:lnTo>
                <a:lnTo>
                  <a:pt x="632261" y="604671"/>
                </a:lnTo>
                <a:lnTo>
                  <a:pt x="0" y="6046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9" name="Freeform 69"/>
          <p:cNvSpPr/>
          <p:nvPr/>
        </p:nvSpPr>
        <p:spPr>
          <a:xfrm>
            <a:off x="6270003" y="1805817"/>
            <a:ext cx="577742" cy="673216"/>
          </a:xfrm>
          <a:custGeom>
            <a:avLst/>
            <a:gdLst/>
            <a:ahLst/>
            <a:cxnLst/>
            <a:rect l="l" t="t" r="r" b="b"/>
            <a:pathLst>
              <a:path w="577742" h="673216">
                <a:moveTo>
                  <a:pt x="0" y="0"/>
                </a:moveTo>
                <a:lnTo>
                  <a:pt x="577742" y="0"/>
                </a:lnTo>
                <a:lnTo>
                  <a:pt x="577742" y="673216"/>
                </a:lnTo>
                <a:lnTo>
                  <a:pt x="0" y="6732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0" name="Freeform 70"/>
          <p:cNvSpPr/>
          <p:nvPr/>
        </p:nvSpPr>
        <p:spPr>
          <a:xfrm>
            <a:off x="6277634" y="2846344"/>
            <a:ext cx="585481" cy="638918"/>
          </a:xfrm>
          <a:custGeom>
            <a:avLst/>
            <a:gdLst/>
            <a:ahLst/>
            <a:cxnLst/>
            <a:rect l="l" t="t" r="r" b="b"/>
            <a:pathLst>
              <a:path w="585481" h="638918">
                <a:moveTo>
                  <a:pt x="0" y="0"/>
                </a:moveTo>
                <a:lnTo>
                  <a:pt x="585481" y="0"/>
                </a:lnTo>
                <a:lnTo>
                  <a:pt x="585481" y="638918"/>
                </a:lnTo>
                <a:lnTo>
                  <a:pt x="0" y="63891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71" name="Freeform 71"/>
          <p:cNvSpPr/>
          <p:nvPr/>
        </p:nvSpPr>
        <p:spPr>
          <a:xfrm>
            <a:off x="6287630" y="3817527"/>
            <a:ext cx="526302" cy="670060"/>
          </a:xfrm>
          <a:custGeom>
            <a:avLst/>
            <a:gdLst/>
            <a:ahLst/>
            <a:cxnLst/>
            <a:rect l="l" t="t" r="r" b="b"/>
            <a:pathLst>
              <a:path w="526302" h="670060">
                <a:moveTo>
                  <a:pt x="0" y="0"/>
                </a:moveTo>
                <a:lnTo>
                  <a:pt x="526302" y="0"/>
                </a:lnTo>
                <a:lnTo>
                  <a:pt x="526302" y="670060"/>
                </a:lnTo>
                <a:lnTo>
                  <a:pt x="0" y="67006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72" name="Freeform 72"/>
          <p:cNvSpPr/>
          <p:nvPr/>
        </p:nvSpPr>
        <p:spPr>
          <a:xfrm>
            <a:off x="6223507" y="4768927"/>
            <a:ext cx="749474" cy="794241"/>
          </a:xfrm>
          <a:custGeom>
            <a:avLst/>
            <a:gdLst/>
            <a:ahLst/>
            <a:cxnLst/>
            <a:rect l="l" t="t" r="r" b="b"/>
            <a:pathLst>
              <a:path w="749474" h="794241">
                <a:moveTo>
                  <a:pt x="0" y="0"/>
                </a:moveTo>
                <a:lnTo>
                  <a:pt x="749475" y="0"/>
                </a:lnTo>
                <a:lnTo>
                  <a:pt x="749475" y="794240"/>
                </a:lnTo>
                <a:lnTo>
                  <a:pt x="0" y="79424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grpSp>
        <p:nvGrpSpPr>
          <p:cNvPr id="73" name="Group 73"/>
          <p:cNvGrpSpPr/>
          <p:nvPr/>
        </p:nvGrpSpPr>
        <p:grpSpPr>
          <a:xfrm>
            <a:off x="0" y="13566"/>
            <a:ext cx="1643385" cy="7301634"/>
            <a:chOff x="0" y="0"/>
            <a:chExt cx="608661" cy="2704309"/>
          </a:xfrm>
        </p:grpSpPr>
        <p:sp>
          <p:nvSpPr>
            <p:cNvPr id="74" name="Freeform 74"/>
            <p:cNvSpPr/>
            <p:nvPr/>
          </p:nvSpPr>
          <p:spPr>
            <a:xfrm>
              <a:off x="0" y="0"/>
              <a:ext cx="608661" cy="2704309"/>
            </a:xfrm>
            <a:custGeom>
              <a:avLst/>
              <a:gdLst/>
              <a:ahLst/>
              <a:cxnLst/>
              <a:rect l="l" t="t" r="r" b="b"/>
              <a:pathLst>
                <a:path w="608661" h="2704309">
                  <a:moveTo>
                    <a:pt x="0" y="0"/>
                  </a:moveTo>
                  <a:lnTo>
                    <a:pt x="608661" y="0"/>
                  </a:lnTo>
                  <a:lnTo>
                    <a:pt x="608661" y="2704309"/>
                  </a:lnTo>
                  <a:lnTo>
                    <a:pt x="0" y="2704309"/>
                  </a:lnTo>
                  <a:close/>
                </a:path>
              </a:pathLst>
            </a:custGeom>
            <a:solidFill>
              <a:srgbClr val="022A3D"/>
            </a:solidFill>
          </p:spPr>
          <p:txBody>
            <a:bodyPr/>
            <a:lstStyle/>
            <a:p>
              <a:endParaRPr lang="en-US"/>
            </a:p>
          </p:txBody>
        </p:sp>
        <p:sp>
          <p:nvSpPr>
            <p:cNvPr id="75" name="TextBox 75"/>
            <p:cNvSpPr txBox="1"/>
            <p:nvPr/>
          </p:nvSpPr>
          <p:spPr>
            <a:xfrm>
              <a:off x="0" y="-9525"/>
              <a:ext cx="608661" cy="2713834"/>
            </a:xfrm>
            <a:prstGeom prst="rect">
              <a:avLst/>
            </a:prstGeom>
          </p:spPr>
          <p:txBody>
            <a:bodyPr lIns="50800" tIns="50800" rIns="50800" bIns="50800" rtlCol="0" anchor="ctr"/>
            <a:lstStyle/>
            <a:p>
              <a:pPr algn="ctr">
                <a:lnSpc>
                  <a:spcPts val="1575"/>
                </a:lnSpc>
              </a:pPr>
              <a:endParaRPr/>
            </a:p>
          </p:txBody>
        </p:sp>
      </p:grpSp>
      <p:sp>
        <p:nvSpPr>
          <p:cNvPr id="76" name="Freeform 76"/>
          <p:cNvSpPr/>
          <p:nvPr/>
        </p:nvSpPr>
        <p:spPr>
          <a:xfrm>
            <a:off x="6148983" y="5911013"/>
            <a:ext cx="690422" cy="392913"/>
          </a:xfrm>
          <a:custGeom>
            <a:avLst/>
            <a:gdLst/>
            <a:ahLst/>
            <a:cxnLst/>
            <a:rect l="l" t="t" r="r" b="b"/>
            <a:pathLst>
              <a:path w="690422" h="392913">
                <a:moveTo>
                  <a:pt x="0" y="0"/>
                </a:moveTo>
                <a:lnTo>
                  <a:pt x="690422" y="0"/>
                </a:lnTo>
                <a:lnTo>
                  <a:pt x="690422" y="392912"/>
                </a:lnTo>
                <a:lnTo>
                  <a:pt x="0" y="39291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77" name="TextBox 77"/>
          <p:cNvSpPr txBox="1"/>
          <p:nvPr/>
        </p:nvSpPr>
        <p:spPr>
          <a:xfrm>
            <a:off x="2439192" y="775445"/>
            <a:ext cx="631927" cy="666588"/>
          </a:xfrm>
          <a:prstGeom prst="rect">
            <a:avLst/>
          </a:prstGeom>
        </p:spPr>
        <p:txBody>
          <a:bodyPr lIns="0" tIns="0" rIns="0" bIns="0" rtlCol="0" anchor="t">
            <a:spAutoFit/>
          </a:bodyPr>
          <a:lstStyle/>
          <a:p>
            <a:pPr algn="ctr">
              <a:lnSpc>
                <a:spcPts val="5258"/>
              </a:lnSpc>
            </a:pPr>
            <a:r>
              <a:rPr lang="en-US" sz="3756">
                <a:solidFill>
                  <a:srgbClr val="FFFCF2"/>
                </a:solidFill>
                <a:latin typeface="Arimo"/>
                <a:ea typeface="Arimo"/>
                <a:cs typeface="Arimo"/>
                <a:sym typeface="Arimo"/>
              </a:rPr>
              <a:t>P</a:t>
            </a:r>
          </a:p>
        </p:txBody>
      </p:sp>
      <p:sp>
        <p:nvSpPr>
          <p:cNvPr id="78" name="TextBox 78"/>
          <p:cNvSpPr txBox="1"/>
          <p:nvPr/>
        </p:nvSpPr>
        <p:spPr>
          <a:xfrm>
            <a:off x="2452659" y="1785752"/>
            <a:ext cx="585529" cy="668030"/>
          </a:xfrm>
          <a:prstGeom prst="rect">
            <a:avLst/>
          </a:prstGeom>
        </p:spPr>
        <p:txBody>
          <a:bodyPr lIns="0" tIns="0" rIns="0" bIns="0" rtlCol="0" anchor="t">
            <a:spAutoFit/>
          </a:bodyPr>
          <a:lstStyle/>
          <a:p>
            <a:pPr algn="ctr">
              <a:lnSpc>
                <a:spcPts val="5261"/>
              </a:lnSpc>
            </a:pPr>
            <a:r>
              <a:rPr lang="en-US" sz="3758">
                <a:solidFill>
                  <a:srgbClr val="FFFCF2"/>
                </a:solidFill>
                <a:latin typeface="Arimo"/>
                <a:ea typeface="Arimo"/>
                <a:cs typeface="Arimo"/>
                <a:sym typeface="Arimo"/>
              </a:rPr>
              <a:t>E</a:t>
            </a:r>
          </a:p>
        </p:txBody>
      </p:sp>
      <p:sp>
        <p:nvSpPr>
          <p:cNvPr id="79" name="TextBox 79"/>
          <p:cNvSpPr txBox="1"/>
          <p:nvPr/>
        </p:nvSpPr>
        <p:spPr>
          <a:xfrm>
            <a:off x="2404944" y="2757488"/>
            <a:ext cx="703995" cy="668679"/>
          </a:xfrm>
          <a:prstGeom prst="rect">
            <a:avLst/>
          </a:prstGeom>
        </p:spPr>
        <p:txBody>
          <a:bodyPr lIns="0" tIns="0" rIns="0" bIns="0" rtlCol="0" anchor="t">
            <a:spAutoFit/>
          </a:bodyPr>
          <a:lstStyle/>
          <a:p>
            <a:pPr algn="ctr">
              <a:lnSpc>
                <a:spcPts val="5341"/>
              </a:lnSpc>
            </a:pPr>
            <a:r>
              <a:rPr lang="en-US" sz="3815">
                <a:solidFill>
                  <a:srgbClr val="FFFCF2"/>
                </a:solidFill>
                <a:latin typeface="Arimo"/>
                <a:ea typeface="Arimo"/>
                <a:cs typeface="Arimo"/>
                <a:sym typeface="Arimo"/>
              </a:rPr>
              <a:t>S</a:t>
            </a:r>
          </a:p>
        </p:txBody>
      </p:sp>
      <p:sp>
        <p:nvSpPr>
          <p:cNvPr id="80" name="TextBox 80"/>
          <p:cNvSpPr txBox="1"/>
          <p:nvPr/>
        </p:nvSpPr>
        <p:spPr>
          <a:xfrm>
            <a:off x="2450982" y="3785695"/>
            <a:ext cx="631872" cy="673114"/>
          </a:xfrm>
          <a:prstGeom prst="rect">
            <a:avLst/>
          </a:prstGeom>
        </p:spPr>
        <p:txBody>
          <a:bodyPr lIns="0" tIns="0" rIns="0" bIns="0" rtlCol="0" anchor="t">
            <a:spAutoFit/>
          </a:bodyPr>
          <a:lstStyle/>
          <a:p>
            <a:pPr algn="ctr">
              <a:lnSpc>
                <a:spcPts val="5308"/>
              </a:lnSpc>
            </a:pPr>
            <a:r>
              <a:rPr lang="en-US" sz="3791">
                <a:solidFill>
                  <a:srgbClr val="FFFCF2"/>
                </a:solidFill>
                <a:latin typeface="Arimo"/>
                <a:ea typeface="Arimo"/>
                <a:cs typeface="Arimo"/>
                <a:sym typeface="Arimo"/>
              </a:rPr>
              <a:t>T</a:t>
            </a:r>
          </a:p>
        </p:txBody>
      </p:sp>
      <p:sp>
        <p:nvSpPr>
          <p:cNvPr id="81" name="TextBox 81"/>
          <p:cNvSpPr txBox="1"/>
          <p:nvPr/>
        </p:nvSpPr>
        <p:spPr>
          <a:xfrm>
            <a:off x="2389452" y="4752471"/>
            <a:ext cx="706973" cy="658967"/>
          </a:xfrm>
          <a:prstGeom prst="rect">
            <a:avLst/>
          </a:prstGeom>
        </p:spPr>
        <p:txBody>
          <a:bodyPr lIns="0" tIns="0" rIns="0" bIns="0" rtlCol="0" anchor="t">
            <a:spAutoFit/>
          </a:bodyPr>
          <a:lstStyle/>
          <a:p>
            <a:pPr algn="ctr">
              <a:lnSpc>
                <a:spcPts val="5178"/>
              </a:lnSpc>
            </a:pPr>
            <a:r>
              <a:rPr lang="en-US" sz="3698">
                <a:solidFill>
                  <a:srgbClr val="FFFCF2"/>
                </a:solidFill>
                <a:latin typeface="Arimo"/>
                <a:ea typeface="Arimo"/>
                <a:cs typeface="Arimo"/>
                <a:sym typeface="Arimo"/>
              </a:rPr>
              <a:t>E</a:t>
            </a:r>
          </a:p>
        </p:txBody>
      </p:sp>
      <p:sp>
        <p:nvSpPr>
          <p:cNvPr id="82" name="TextBox 82"/>
          <p:cNvSpPr txBox="1"/>
          <p:nvPr/>
        </p:nvSpPr>
        <p:spPr>
          <a:xfrm>
            <a:off x="2485880" y="5680551"/>
            <a:ext cx="604839" cy="674060"/>
          </a:xfrm>
          <a:prstGeom prst="rect">
            <a:avLst/>
          </a:prstGeom>
        </p:spPr>
        <p:txBody>
          <a:bodyPr lIns="0" tIns="0" rIns="0" bIns="0" rtlCol="0" anchor="t">
            <a:spAutoFit/>
          </a:bodyPr>
          <a:lstStyle/>
          <a:p>
            <a:pPr algn="ctr">
              <a:lnSpc>
                <a:spcPts val="5229"/>
              </a:lnSpc>
            </a:pPr>
            <a:r>
              <a:rPr lang="en-US" sz="3735">
                <a:solidFill>
                  <a:srgbClr val="FFFCF2"/>
                </a:solidFill>
                <a:latin typeface="Arimo"/>
                <a:ea typeface="Arimo"/>
                <a:cs typeface="Arimo"/>
                <a:sym typeface="Arimo"/>
              </a:rPr>
              <a:t>L</a:t>
            </a:r>
          </a:p>
        </p:txBody>
      </p:sp>
      <p:sp>
        <p:nvSpPr>
          <p:cNvPr id="83" name="TextBox 83"/>
          <p:cNvSpPr txBox="1"/>
          <p:nvPr/>
        </p:nvSpPr>
        <p:spPr>
          <a:xfrm>
            <a:off x="7781845" y="2079757"/>
            <a:ext cx="1148749" cy="207183"/>
          </a:xfrm>
          <a:prstGeom prst="rect">
            <a:avLst/>
          </a:prstGeom>
        </p:spPr>
        <p:txBody>
          <a:bodyPr lIns="0" tIns="0" rIns="0" bIns="0" rtlCol="0" anchor="t">
            <a:spAutoFit/>
          </a:bodyPr>
          <a:lstStyle/>
          <a:p>
            <a:pPr algn="ctr">
              <a:lnSpc>
                <a:spcPts val="1406"/>
              </a:lnSpc>
            </a:pPr>
            <a:r>
              <a:rPr lang="en-US" sz="1406" b="1">
                <a:solidFill>
                  <a:srgbClr val="FFFCF2"/>
                </a:solidFill>
                <a:latin typeface="Arimo Bold"/>
                <a:ea typeface="Arimo Bold"/>
                <a:cs typeface="Arimo Bold"/>
                <a:sym typeface="Arimo Bold"/>
              </a:rPr>
              <a:t>Economy</a:t>
            </a:r>
          </a:p>
        </p:txBody>
      </p:sp>
      <p:sp>
        <p:nvSpPr>
          <p:cNvPr id="84" name="TextBox 84"/>
          <p:cNvSpPr txBox="1"/>
          <p:nvPr/>
        </p:nvSpPr>
        <p:spPr>
          <a:xfrm>
            <a:off x="7781845" y="3069869"/>
            <a:ext cx="1148749" cy="207183"/>
          </a:xfrm>
          <a:prstGeom prst="rect">
            <a:avLst/>
          </a:prstGeom>
        </p:spPr>
        <p:txBody>
          <a:bodyPr lIns="0" tIns="0" rIns="0" bIns="0" rtlCol="0" anchor="t">
            <a:spAutoFit/>
          </a:bodyPr>
          <a:lstStyle/>
          <a:p>
            <a:pPr algn="ctr">
              <a:lnSpc>
                <a:spcPts val="1406"/>
              </a:lnSpc>
            </a:pPr>
            <a:r>
              <a:rPr lang="en-US" sz="1406" b="1">
                <a:solidFill>
                  <a:srgbClr val="FFFCF2"/>
                </a:solidFill>
                <a:latin typeface="Arimo Bold"/>
                <a:ea typeface="Arimo Bold"/>
                <a:cs typeface="Arimo Bold"/>
                <a:sym typeface="Arimo Bold"/>
              </a:rPr>
              <a:t>Society</a:t>
            </a:r>
          </a:p>
        </p:txBody>
      </p:sp>
      <p:sp>
        <p:nvSpPr>
          <p:cNvPr id="85" name="TextBox 85"/>
          <p:cNvSpPr txBox="1"/>
          <p:nvPr/>
        </p:nvSpPr>
        <p:spPr>
          <a:xfrm>
            <a:off x="7690358" y="4050355"/>
            <a:ext cx="1331722" cy="207183"/>
          </a:xfrm>
          <a:prstGeom prst="rect">
            <a:avLst/>
          </a:prstGeom>
        </p:spPr>
        <p:txBody>
          <a:bodyPr lIns="0" tIns="0" rIns="0" bIns="0" rtlCol="0" anchor="t">
            <a:spAutoFit/>
          </a:bodyPr>
          <a:lstStyle/>
          <a:p>
            <a:pPr algn="ctr">
              <a:lnSpc>
                <a:spcPts val="1406"/>
              </a:lnSpc>
            </a:pPr>
            <a:r>
              <a:rPr lang="en-US" sz="1406" b="1">
                <a:solidFill>
                  <a:srgbClr val="FFFCF2"/>
                </a:solidFill>
                <a:latin typeface="Arimo Bold"/>
                <a:ea typeface="Arimo Bold"/>
                <a:cs typeface="Arimo Bold"/>
                <a:sym typeface="Arimo Bold"/>
              </a:rPr>
              <a:t>Technology</a:t>
            </a:r>
          </a:p>
        </p:txBody>
      </p:sp>
      <p:sp>
        <p:nvSpPr>
          <p:cNvPr id="86" name="TextBox 86"/>
          <p:cNvSpPr txBox="1"/>
          <p:nvPr/>
        </p:nvSpPr>
        <p:spPr>
          <a:xfrm>
            <a:off x="7750856" y="5062455"/>
            <a:ext cx="1210726" cy="207183"/>
          </a:xfrm>
          <a:prstGeom prst="rect">
            <a:avLst/>
          </a:prstGeom>
        </p:spPr>
        <p:txBody>
          <a:bodyPr lIns="0" tIns="0" rIns="0" bIns="0" rtlCol="0" anchor="t">
            <a:spAutoFit/>
          </a:bodyPr>
          <a:lstStyle/>
          <a:p>
            <a:pPr algn="ctr">
              <a:lnSpc>
                <a:spcPts val="1406"/>
              </a:lnSpc>
            </a:pPr>
            <a:r>
              <a:rPr lang="en-US" sz="1406" b="1">
                <a:solidFill>
                  <a:srgbClr val="FFFCF2"/>
                </a:solidFill>
                <a:latin typeface="Arimo Bold"/>
                <a:ea typeface="Arimo Bold"/>
                <a:cs typeface="Arimo Bold"/>
                <a:sym typeface="Arimo Bold"/>
              </a:rPr>
              <a:t>Environment</a:t>
            </a:r>
          </a:p>
        </p:txBody>
      </p:sp>
      <p:sp>
        <p:nvSpPr>
          <p:cNvPr id="87" name="TextBox 87"/>
          <p:cNvSpPr txBox="1"/>
          <p:nvPr/>
        </p:nvSpPr>
        <p:spPr>
          <a:xfrm>
            <a:off x="7811354" y="6040485"/>
            <a:ext cx="1089729" cy="207183"/>
          </a:xfrm>
          <a:prstGeom prst="rect">
            <a:avLst/>
          </a:prstGeom>
        </p:spPr>
        <p:txBody>
          <a:bodyPr lIns="0" tIns="0" rIns="0" bIns="0" rtlCol="0" anchor="t">
            <a:spAutoFit/>
          </a:bodyPr>
          <a:lstStyle/>
          <a:p>
            <a:pPr algn="ctr">
              <a:lnSpc>
                <a:spcPts val="1406"/>
              </a:lnSpc>
            </a:pPr>
            <a:r>
              <a:rPr lang="en-US" sz="1406" b="1">
                <a:solidFill>
                  <a:srgbClr val="FFFCF2"/>
                </a:solidFill>
                <a:latin typeface="Arimo Bold"/>
                <a:ea typeface="Arimo Bold"/>
                <a:cs typeface="Arimo Bold"/>
                <a:sym typeface="Arimo Bold"/>
              </a:rPr>
              <a:t>Law</a:t>
            </a:r>
          </a:p>
        </p:txBody>
      </p:sp>
      <p:sp>
        <p:nvSpPr>
          <p:cNvPr id="88" name="TextBox 88"/>
          <p:cNvSpPr txBox="1"/>
          <p:nvPr/>
        </p:nvSpPr>
        <p:spPr>
          <a:xfrm>
            <a:off x="3269206" y="868807"/>
            <a:ext cx="2825091" cy="828213"/>
          </a:xfrm>
          <a:prstGeom prst="rect">
            <a:avLst/>
          </a:prstGeom>
        </p:spPr>
        <p:txBody>
          <a:bodyPr lIns="0" tIns="0" rIns="0" bIns="0" rtlCol="0" anchor="t">
            <a:spAutoFit/>
          </a:bodyPr>
          <a:lstStyle/>
          <a:p>
            <a:pPr marL="238962" lvl="1" indent="-119481" algn="l">
              <a:lnSpc>
                <a:spcPts val="1106"/>
              </a:lnSpc>
              <a:buFont typeface="Arial"/>
              <a:buChar char="•"/>
            </a:pPr>
            <a:r>
              <a:rPr lang="en-US" sz="1106" b="1">
                <a:solidFill>
                  <a:srgbClr val="000000"/>
                </a:solidFill>
                <a:latin typeface="Poppins Bold"/>
                <a:ea typeface="Poppins Bold"/>
                <a:cs typeface="Poppins Bold"/>
                <a:sym typeface="Poppins Bold"/>
              </a:rPr>
              <a:t>Government Support for sustainable food policies</a:t>
            </a:r>
          </a:p>
          <a:p>
            <a:pPr marL="238962" lvl="1" indent="-119481" algn="l">
              <a:lnSpc>
                <a:spcPts val="1106"/>
              </a:lnSpc>
              <a:buFont typeface="Arial"/>
              <a:buChar char="•"/>
            </a:pPr>
            <a:r>
              <a:rPr lang="en-US" sz="1106" b="1" u="none">
                <a:solidFill>
                  <a:srgbClr val="000000"/>
                </a:solidFill>
                <a:latin typeface="Poppins Bold"/>
                <a:ea typeface="Poppins Bold"/>
                <a:cs typeface="Poppins Bold"/>
                <a:sym typeface="Poppins Bold"/>
              </a:rPr>
              <a:t>Daiary industry lobbying leads to stricter regulations on planet-based labeling</a:t>
            </a:r>
          </a:p>
          <a:p>
            <a:pPr algn="l">
              <a:lnSpc>
                <a:spcPts val="1106"/>
              </a:lnSpc>
            </a:pPr>
            <a:endParaRPr lang="en-US" sz="1106" b="1" u="none">
              <a:solidFill>
                <a:srgbClr val="000000"/>
              </a:solidFill>
              <a:latin typeface="Poppins Bold"/>
              <a:ea typeface="Poppins Bold"/>
              <a:cs typeface="Poppins Bold"/>
              <a:sym typeface="Poppins Bold"/>
            </a:endParaRPr>
          </a:p>
        </p:txBody>
      </p:sp>
      <p:sp>
        <p:nvSpPr>
          <p:cNvPr id="89" name="TextBox 89"/>
          <p:cNvSpPr txBox="1"/>
          <p:nvPr/>
        </p:nvSpPr>
        <p:spPr>
          <a:xfrm rot="-5400000">
            <a:off x="-687826" y="1900758"/>
            <a:ext cx="3006962" cy="692150"/>
          </a:xfrm>
          <a:prstGeom prst="rect">
            <a:avLst/>
          </a:prstGeom>
        </p:spPr>
        <p:txBody>
          <a:bodyPr lIns="0" tIns="0" rIns="0" bIns="0" rtlCol="0" anchor="t">
            <a:spAutoFit/>
          </a:bodyPr>
          <a:lstStyle/>
          <a:p>
            <a:pPr algn="l">
              <a:lnSpc>
                <a:spcPts val="2800"/>
              </a:lnSpc>
            </a:pPr>
            <a:r>
              <a:rPr lang="en-US" sz="2000">
                <a:solidFill>
                  <a:srgbClr val="F4F4F4"/>
                </a:solidFill>
                <a:latin typeface="Montaser Arabic"/>
                <a:ea typeface="Montaser Arabic"/>
                <a:cs typeface="Montaser Arabic"/>
                <a:sym typeface="Montaser Arabic"/>
              </a:rPr>
              <a:t>ANALYSIS OF OATLY’S MARKET INFLUENCES</a:t>
            </a:r>
          </a:p>
        </p:txBody>
      </p:sp>
      <p:sp>
        <p:nvSpPr>
          <p:cNvPr id="90" name="TextBox 90"/>
          <p:cNvSpPr txBox="1"/>
          <p:nvPr/>
        </p:nvSpPr>
        <p:spPr>
          <a:xfrm>
            <a:off x="3269206" y="1764223"/>
            <a:ext cx="2716969" cy="828213"/>
          </a:xfrm>
          <a:prstGeom prst="rect">
            <a:avLst/>
          </a:prstGeom>
        </p:spPr>
        <p:txBody>
          <a:bodyPr lIns="0" tIns="0" rIns="0" bIns="0" rtlCol="0" anchor="t">
            <a:spAutoFit/>
          </a:bodyPr>
          <a:lstStyle/>
          <a:p>
            <a:pPr marL="238962" lvl="1" indent="-119481" algn="l">
              <a:lnSpc>
                <a:spcPts val="1106"/>
              </a:lnSpc>
              <a:spcBef>
                <a:spcPct val="0"/>
              </a:spcBef>
              <a:buFont typeface="Arial"/>
              <a:buChar char="•"/>
            </a:pPr>
            <a:r>
              <a:rPr lang="en-US" sz="1106" b="1">
                <a:solidFill>
                  <a:srgbClr val="000000"/>
                </a:solidFill>
                <a:latin typeface="Poppins Bold"/>
                <a:ea typeface="Poppins Bold"/>
                <a:cs typeface="Poppins Bold"/>
                <a:sym typeface="Poppins Bold"/>
              </a:rPr>
              <a:t>Plant-based milk industry is growing rapidly</a:t>
            </a:r>
          </a:p>
          <a:p>
            <a:pPr marL="238962" lvl="1" indent="-119481" algn="l">
              <a:lnSpc>
                <a:spcPts val="1106"/>
              </a:lnSpc>
              <a:spcBef>
                <a:spcPct val="0"/>
              </a:spcBef>
              <a:buFont typeface="Arial"/>
              <a:buChar char="•"/>
            </a:pPr>
            <a:r>
              <a:rPr lang="en-US" sz="1106" b="1" u="none">
                <a:solidFill>
                  <a:srgbClr val="000000"/>
                </a:solidFill>
                <a:latin typeface="Poppins Bold"/>
                <a:ea typeface="Poppins Bold"/>
                <a:cs typeface="Poppins Bold"/>
                <a:sym typeface="Poppins Bold"/>
              </a:rPr>
              <a:t>Premium pricing limits affordability</a:t>
            </a:r>
          </a:p>
          <a:p>
            <a:pPr marL="238962" lvl="1" indent="-119481" algn="l">
              <a:lnSpc>
                <a:spcPts val="1106"/>
              </a:lnSpc>
              <a:spcBef>
                <a:spcPct val="0"/>
              </a:spcBef>
              <a:buFont typeface="Arial"/>
              <a:buChar char="•"/>
            </a:pPr>
            <a:r>
              <a:rPr lang="en-US" sz="1106" b="1" u="none">
                <a:solidFill>
                  <a:srgbClr val="000000"/>
                </a:solidFill>
                <a:latin typeface="Poppins Bold"/>
                <a:ea typeface="Poppins Bold"/>
                <a:cs typeface="Poppins Bold"/>
                <a:sym typeface="Poppins Bold"/>
              </a:rPr>
              <a:t>Inflation impacts raw material costs(oats, packaging</a:t>
            </a:r>
          </a:p>
        </p:txBody>
      </p:sp>
      <p:sp>
        <p:nvSpPr>
          <p:cNvPr id="91" name="TextBox 91"/>
          <p:cNvSpPr txBox="1"/>
          <p:nvPr/>
        </p:nvSpPr>
        <p:spPr>
          <a:xfrm>
            <a:off x="3265276" y="2754132"/>
            <a:ext cx="2771491" cy="1003473"/>
          </a:xfrm>
          <a:prstGeom prst="rect">
            <a:avLst/>
          </a:prstGeom>
        </p:spPr>
        <p:txBody>
          <a:bodyPr lIns="0" tIns="0" rIns="0" bIns="0" rtlCol="0" anchor="t">
            <a:spAutoFit/>
          </a:bodyPr>
          <a:lstStyle/>
          <a:p>
            <a:pPr marL="238962" lvl="1" indent="-119481" algn="l">
              <a:lnSpc>
                <a:spcPts val="1106"/>
              </a:lnSpc>
              <a:spcBef>
                <a:spcPct val="0"/>
              </a:spcBef>
              <a:buFont typeface="Arial"/>
              <a:buChar char="•"/>
            </a:pPr>
            <a:r>
              <a:rPr lang="en-US" sz="1106" b="1">
                <a:solidFill>
                  <a:srgbClr val="000000"/>
                </a:solidFill>
                <a:latin typeface="Poppins Bold"/>
                <a:ea typeface="Poppins Bold"/>
                <a:cs typeface="Poppins Bold"/>
                <a:sym typeface="Poppins Bold"/>
              </a:rPr>
              <a:t>Strong consumer shift towards eco-friendly and ethical consumption</a:t>
            </a:r>
          </a:p>
          <a:p>
            <a:pPr marL="238962" lvl="1" indent="-119481" algn="l">
              <a:lnSpc>
                <a:spcPts val="1106"/>
              </a:lnSpc>
              <a:spcBef>
                <a:spcPct val="0"/>
              </a:spcBef>
              <a:buFont typeface="Arial"/>
              <a:buChar char="•"/>
            </a:pPr>
            <a:r>
              <a:rPr lang="en-US" sz="1106" b="1" u="none">
                <a:solidFill>
                  <a:srgbClr val="000000"/>
                </a:solidFill>
                <a:latin typeface="Poppins Bold"/>
                <a:ea typeface="Poppins Bold"/>
                <a:cs typeface="Poppins Bold"/>
                <a:sym typeface="Poppins Bold"/>
              </a:rPr>
              <a:t>Younger generations drive demand for sustainable plant-based alternatives</a:t>
            </a:r>
          </a:p>
          <a:p>
            <a:pPr algn="l">
              <a:lnSpc>
                <a:spcPts val="1406"/>
              </a:lnSpc>
              <a:spcBef>
                <a:spcPct val="0"/>
              </a:spcBef>
            </a:pPr>
            <a:endParaRPr lang="en-US" sz="1106" b="1" u="none">
              <a:solidFill>
                <a:srgbClr val="000000"/>
              </a:solidFill>
              <a:latin typeface="Poppins Bold"/>
              <a:ea typeface="Poppins Bold"/>
              <a:cs typeface="Poppins Bold"/>
              <a:sym typeface="Poppins Bold"/>
            </a:endParaRPr>
          </a:p>
        </p:txBody>
      </p:sp>
      <p:sp>
        <p:nvSpPr>
          <p:cNvPr id="92" name="TextBox 92"/>
          <p:cNvSpPr txBox="1"/>
          <p:nvPr/>
        </p:nvSpPr>
        <p:spPr>
          <a:xfrm>
            <a:off x="3289045" y="3797336"/>
            <a:ext cx="2438556" cy="945053"/>
          </a:xfrm>
          <a:prstGeom prst="rect">
            <a:avLst/>
          </a:prstGeom>
        </p:spPr>
        <p:txBody>
          <a:bodyPr lIns="0" tIns="0" rIns="0" bIns="0" rtlCol="0" anchor="t">
            <a:spAutoFit/>
          </a:bodyPr>
          <a:lstStyle/>
          <a:p>
            <a:pPr marL="217373" lvl="1" indent="-108686" algn="l">
              <a:lnSpc>
                <a:spcPts val="1006"/>
              </a:lnSpc>
              <a:spcBef>
                <a:spcPct val="0"/>
              </a:spcBef>
              <a:buFont typeface="Arial"/>
              <a:buChar char="•"/>
            </a:pPr>
            <a:r>
              <a:rPr lang="en-US" sz="1006" b="1">
                <a:solidFill>
                  <a:srgbClr val="000000"/>
                </a:solidFill>
                <a:latin typeface="Poppins Bold"/>
                <a:ea typeface="Poppins Bold"/>
                <a:cs typeface="Poppins Bold"/>
                <a:sym typeface="Poppins Bold"/>
              </a:rPr>
              <a:t>Innovations in food processing &amp; production efficiency reduce costs</a:t>
            </a:r>
          </a:p>
          <a:p>
            <a:pPr marL="217373" lvl="1" indent="-108686" algn="l">
              <a:lnSpc>
                <a:spcPts val="1006"/>
              </a:lnSpc>
              <a:spcBef>
                <a:spcPct val="0"/>
              </a:spcBef>
              <a:buFont typeface="Arial"/>
              <a:buChar char="•"/>
            </a:pPr>
            <a:r>
              <a:rPr lang="en-US" sz="1006" b="1" u="none">
                <a:solidFill>
                  <a:srgbClr val="000000"/>
                </a:solidFill>
                <a:latin typeface="Poppins Bold"/>
                <a:ea typeface="Poppins Bold"/>
                <a:cs typeface="Poppins Bold"/>
                <a:sym typeface="Poppins Bold"/>
              </a:rPr>
              <a:t>AI and automation in supply chain logistics enhance distribution</a:t>
            </a:r>
          </a:p>
          <a:p>
            <a:pPr algn="l">
              <a:lnSpc>
                <a:spcPts val="1406"/>
              </a:lnSpc>
              <a:spcBef>
                <a:spcPct val="0"/>
              </a:spcBef>
            </a:pPr>
            <a:endParaRPr lang="en-US" sz="1006" b="1" u="none">
              <a:solidFill>
                <a:srgbClr val="000000"/>
              </a:solidFill>
              <a:latin typeface="Poppins Bold"/>
              <a:ea typeface="Poppins Bold"/>
              <a:cs typeface="Poppins Bold"/>
              <a:sym typeface="Poppins Bold"/>
            </a:endParaRPr>
          </a:p>
        </p:txBody>
      </p:sp>
      <p:sp>
        <p:nvSpPr>
          <p:cNvPr id="93" name="TextBox 93"/>
          <p:cNvSpPr txBox="1"/>
          <p:nvPr/>
        </p:nvSpPr>
        <p:spPr>
          <a:xfrm>
            <a:off x="3289045" y="4840538"/>
            <a:ext cx="2697130" cy="694863"/>
          </a:xfrm>
          <a:prstGeom prst="rect">
            <a:avLst/>
          </a:prstGeom>
        </p:spPr>
        <p:txBody>
          <a:bodyPr lIns="0" tIns="0" rIns="0" bIns="0" rtlCol="0" anchor="t">
            <a:spAutoFit/>
          </a:bodyPr>
          <a:lstStyle/>
          <a:p>
            <a:pPr marL="238962" lvl="1" indent="-119481" algn="l">
              <a:lnSpc>
                <a:spcPts val="1106"/>
              </a:lnSpc>
              <a:spcBef>
                <a:spcPct val="0"/>
              </a:spcBef>
              <a:buFont typeface="Arial"/>
              <a:buChar char="•"/>
            </a:pPr>
            <a:r>
              <a:rPr lang="en-US" sz="1106" b="1">
                <a:solidFill>
                  <a:srgbClr val="000000"/>
                </a:solidFill>
                <a:latin typeface="Poppins Bold"/>
                <a:ea typeface="Poppins Bold"/>
                <a:cs typeface="Poppins Bold"/>
                <a:sym typeface="Poppins Bold"/>
              </a:rPr>
              <a:t>Oatly’s commitment to lowering carbon footprint aligns with global sustainability goals</a:t>
            </a:r>
          </a:p>
          <a:p>
            <a:pPr marL="238962" lvl="1" indent="-119481" algn="l">
              <a:lnSpc>
                <a:spcPts val="1106"/>
              </a:lnSpc>
              <a:spcBef>
                <a:spcPct val="0"/>
              </a:spcBef>
              <a:buFont typeface="Arial"/>
              <a:buChar char="•"/>
            </a:pPr>
            <a:r>
              <a:rPr lang="en-US" sz="1106" b="1" u="none">
                <a:solidFill>
                  <a:srgbClr val="000000"/>
                </a:solidFill>
                <a:latin typeface="Poppins Bold"/>
                <a:ea typeface="Poppins Bold"/>
                <a:cs typeface="Poppins Bold"/>
                <a:sym typeface="Poppins Bold"/>
              </a:rPr>
              <a:t>Climate change risks may impact oat crop yields and sourcing</a:t>
            </a:r>
          </a:p>
        </p:txBody>
      </p:sp>
      <p:sp>
        <p:nvSpPr>
          <p:cNvPr id="94" name="TextBox 94"/>
          <p:cNvSpPr txBox="1"/>
          <p:nvPr/>
        </p:nvSpPr>
        <p:spPr>
          <a:xfrm>
            <a:off x="3289045" y="5735924"/>
            <a:ext cx="2801335" cy="870123"/>
          </a:xfrm>
          <a:prstGeom prst="rect">
            <a:avLst/>
          </a:prstGeom>
        </p:spPr>
        <p:txBody>
          <a:bodyPr lIns="0" tIns="0" rIns="0" bIns="0" rtlCol="0" anchor="t">
            <a:spAutoFit/>
          </a:bodyPr>
          <a:lstStyle/>
          <a:p>
            <a:pPr marL="238962" lvl="1" indent="-119481" algn="l">
              <a:lnSpc>
                <a:spcPts val="1106"/>
              </a:lnSpc>
              <a:spcBef>
                <a:spcPct val="0"/>
              </a:spcBef>
              <a:buFont typeface="Arial"/>
              <a:buChar char="•"/>
            </a:pPr>
            <a:r>
              <a:rPr lang="en-US" sz="1106" b="1">
                <a:solidFill>
                  <a:srgbClr val="000000"/>
                </a:solidFill>
                <a:latin typeface="Poppins Bold"/>
                <a:ea typeface="Poppins Bold"/>
                <a:cs typeface="Poppins Bold"/>
                <a:sym typeface="Poppins Bold"/>
              </a:rPr>
              <a:t>Stricter food labeling laws may limit marketing strategies</a:t>
            </a:r>
          </a:p>
          <a:p>
            <a:pPr marL="238962" lvl="1" indent="-119481" algn="l">
              <a:lnSpc>
                <a:spcPts val="1106"/>
              </a:lnSpc>
              <a:spcBef>
                <a:spcPct val="0"/>
              </a:spcBef>
              <a:buFont typeface="Arial"/>
              <a:buChar char="•"/>
            </a:pPr>
            <a:r>
              <a:rPr lang="en-US" sz="1106" b="1" u="none">
                <a:solidFill>
                  <a:srgbClr val="000000"/>
                </a:solidFill>
                <a:latin typeface="Poppins Bold"/>
                <a:ea typeface="Poppins Bold"/>
                <a:cs typeface="Poppins Bold"/>
                <a:sym typeface="Poppins Bold"/>
              </a:rPr>
              <a:t>Compliance with food safety regulations across different markets</a:t>
            </a:r>
          </a:p>
          <a:p>
            <a:pPr algn="l">
              <a:lnSpc>
                <a:spcPts val="1406"/>
              </a:lnSpc>
              <a:spcBef>
                <a:spcPct val="0"/>
              </a:spcBef>
            </a:pPr>
            <a:endParaRPr lang="en-US" sz="1106" b="1" u="none">
              <a:solidFill>
                <a:srgbClr val="000000"/>
              </a:solidFill>
              <a:latin typeface="Poppins Bold"/>
              <a:ea typeface="Poppins Bold"/>
              <a:cs typeface="Poppins Bold"/>
              <a:sym typeface="Poppins Bold"/>
            </a:endParaRPr>
          </a:p>
        </p:txBody>
      </p:sp>
      <p:sp>
        <p:nvSpPr>
          <p:cNvPr id="95" name="TextBox 95"/>
          <p:cNvSpPr txBox="1"/>
          <p:nvPr/>
        </p:nvSpPr>
        <p:spPr>
          <a:xfrm>
            <a:off x="7781845" y="1084412"/>
            <a:ext cx="1148749" cy="207183"/>
          </a:xfrm>
          <a:prstGeom prst="rect">
            <a:avLst/>
          </a:prstGeom>
        </p:spPr>
        <p:txBody>
          <a:bodyPr lIns="0" tIns="0" rIns="0" bIns="0" rtlCol="0" anchor="t">
            <a:spAutoFit/>
          </a:bodyPr>
          <a:lstStyle/>
          <a:p>
            <a:pPr algn="ctr">
              <a:lnSpc>
                <a:spcPts val="1406"/>
              </a:lnSpc>
            </a:pPr>
            <a:r>
              <a:rPr lang="en-US" sz="1406" b="1">
                <a:solidFill>
                  <a:srgbClr val="FFFCF2"/>
                </a:solidFill>
                <a:latin typeface="Arimo Bold"/>
                <a:ea typeface="Arimo Bold"/>
                <a:cs typeface="Arimo Bold"/>
                <a:sym typeface="Arimo Bold"/>
              </a:rPr>
              <a:t>Politics</a:t>
            </a:r>
          </a:p>
        </p:txBody>
      </p:sp>
      <p:sp>
        <p:nvSpPr>
          <p:cNvPr id="96" name="TextBox 96"/>
          <p:cNvSpPr txBox="1"/>
          <p:nvPr/>
        </p:nvSpPr>
        <p:spPr>
          <a:xfrm rot="-5400000">
            <a:off x="-479128" y="4861788"/>
            <a:ext cx="2487341" cy="830908"/>
          </a:xfrm>
          <a:prstGeom prst="rect">
            <a:avLst/>
          </a:prstGeom>
        </p:spPr>
        <p:txBody>
          <a:bodyPr lIns="0" tIns="0" rIns="0" bIns="0" rtlCol="0" anchor="t">
            <a:spAutoFit/>
          </a:bodyPr>
          <a:lstStyle/>
          <a:p>
            <a:pPr marL="0" lvl="0" indent="0" algn="ctr">
              <a:lnSpc>
                <a:spcPts val="6588"/>
              </a:lnSpc>
              <a:spcBef>
                <a:spcPct val="0"/>
              </a:spcBef>
            </a:pPr>
            <a:r>
              <a:rPr lang="en-US" sz="4705" u="none">
                <a:solidFill>
                  <a:srgbClr val="FFFCF2"/>
                </a:solidFill>
                <a:latin typeface="Arimo"/>
                <a:ea typeface="Arimo"/>
                <a:cs typeface="Arimo"/>
                <a:sym typeface="Arimo"/>
              </a:rPr>
              <a:t>PESTEL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73737"/>
        </a:solidFill>
        <a:effectLst/>
      </p:bgPr>
    </p:bg>
    <p:spTree>
      <p:nvGrpSpPr>
        <p:cNvPr id="1" name=""/>
        <p:cNvGrpSpPr/>
        <p:nvPr/>
      </p:nvGrpSpPr>
      <p:grpSpPr>
        <a:xfrm>
          <a:off x="0" y="0"/>
          <a:ext cx="0" cy="0"/>
          <a:chOff x="0" y="0"/>
          <a:chExt cx="0" cy="0"/>
        </a:xfrm>
      </p:grpSpPr>
      <p:grpSp>
        <p:nvGrpSpPr>
          <p:cNvPr id="2" name="Group 2"/>
          <p:cNvGrpSpPr/>
          <p:nvPr/>
        </p:nvGrpSpPr>
        <p:grpSpPr>
          <a:xfrm>
            <a:off x="543877" y="2029995"/>
            <a:ext cx="4128983" cy="3215328"/>
            <a:chOff x="0" y="0"/>
            <a:chExt cx="1529253" cy="1190862"/>
          </a:xfrm>
        </p:grpSpPr>
        <p:sp>
          <p:nvSpPr>
            <p:cNvPr id="3" name="Freeform 3"/>
            <p:cNvSpPr/>
            <p:nvPr/>
          </p:nvSpPr>
          <p:spPr>
            <a:xfrm>
              <a:off x="0" y="0"/>
              <a:ext cx="1529253" cy="1190862"/>
            </a:xfrm>
            <a:custGeom>
              <a:avLst/>
              <a:gdLst/>
              <a:ahLst/>
              <a:cxnLst/>
              <a:rect l="l" t="t" r="r" b="b"/>
              <a:pathLst>
                <a:path w="1529253" h="1190862">
                  <a:moveTo>
                    <a:pt x="28125" y="0"/>
                  </a:moveTo>
                  <a:lnTo>
                    <a:pt x="1501128" y="0"/>
                  </a:lnTo>
                  <a:cubicBezTo>
                    <a:pt x="1516661" y="0"/>
                    <a:pt x="1529253" y="12592"/>
                    <a:pt x="1529253" y="28125"/>
                  </a:cubicBezTo>
                  <a:lnTo>
                    <a:pt x="1529253" y="1162737"/>
                  </a:lnTo>
                  <a:cubicBezTo>
                    <a:pt x="1529253" y="1178270"/>
                    <a:pt x="1516661" y="1190862"/>
                    <a:pt x="1501128" y="1190862"/>
                  </a:cubicBezTo>
                  <a:lnTo>
                    <a:pt x="28125" y="1190862"/>
                  </a:lnTo>
                  <a:cubicBezTo>
                    <a:pt x="12592" y="1190862"/>
                    <a:pt x="0" y="1178270"/>
                    <a:pt x="0" y="1162737"/>
                  </a:cubicBezTo>
                  <a:lnTo>
                    <a:pt x="0" y="28125"/>
                  </a:lnTo>
                  <a:cubicBezTo>
                    <a:pt x="0" y="12592"/>
                    <a:pt x="12592" y="0"/>
                    <a:pt x="28125" y="0"/>
                  </a:cubicBezTo>
                  <a:close/>
                </a:path>
              </a:pathLst>
            </a:custGeom>
            <a:solidFill>
              <a:srgbClr val="000000">
                <a:alpha val="0"/>
              </a:srgbClr>
            </a:solidFill>
            <a:ln w="9525" cap="sq">
              <a:solidFill>
                <a:srgbClr val="FFFFFF"/>
              </a:solidFill>
              <a:prstDash val="solid"/>
              <a:miter/>
            </a:ln>
          </p:spPr>
          <p:txBody>
            <a:bodyPr/>
            <a:lstStyle/>
            <a:p>
              <a:endParaRPr lang="en-US"/>
            </a:p>
          </p:txBody>
        </p:sp>
        <p:sp>
          <p:nvSpPr>
            <p:cNvPr id="4" name="TextBox 4"/>
            <p:cNvSpPr txBox="1"/>
            <p:nvPr/>
          </p:nvSpPr>
          <p:spPr>
            <a:xfrm>
              <a:off x="0" y="-9525"/>
              <a:ext cx="1529253" cy="1200387"/>
            </a:xfrm>
            <a:prstGeom prst="rect">
              <a:avLst/>
            </a:prstGeom>
          </p:spPr>
          <p:txBody>
            <a:bodyPr lIns="50800" tIns="50800" rIns="50800" bIns="50800" rtlCol="0" anchor="ctr"/>
            <a:lstStyle/>
            <a:p>
              <a:pPr algn="ctr">
                <a:lnSpc>
                  <a:spcPts val="1799"/>
                </a:lnSpc>
              </a:pPr>
              <a:endParaRPr/>
            </a:p>
          </p:txBody>
        </p:sp>
      </p:grpSp>
      <p:pic>
        <p:nvPicPr>
          <p:cNvPr id="5" name="Picture 5"/>
          <p:cNvPicPr>
            <a:picLocks noChangeAspect="1"/>
          </p:cNvPicPr>
          <p:nvPr/>
        </p:nvPicPr>
        <p:blipFill>
          <a:blip r:embed="rId2"/>
          <a:stretch>
            <a:fillRect/>
          </a:stretch>
        </p:blipFill>
        <p:spPr>
          <a:xfrm>
            <a:off x="471395" y="1870088"/>
            <a:ext cx="4353313" cy="3496588"/>
          </a:xfrm>
          <a:prstGeom prst="rect">
            <a:avLst/>
          </a:prstGeom>
        </p:spPr>
      </p:pic>
      <p:grpSp>
        <p:nvGrpSpPr>
          <p:cNvPr id="6" name="Group 6"/>
          <p:cNvGrpSpPr/>
          <p:nvPr/>
        </p:nvGrpSpPr>
        <p:grpSpPr>
          <a:xfrm>
            <a:off x="4881562" y="4184162"/>
            <a:ext cx="4328160" cy="2687902"/>
            <a:chOff x="0" y="0"/>
            <a:chExt cx="1603022" cy="995519"/>
          </a:xfrm>
        </p:grpSpPr>
        <p:sp>
          <p:nvSpPr>
            <p:cNvPr id="7" name="Freeform 7"/>
            <p:cNvSpPr/>
            <p:nvPr/>
          </p:nvSpPr>
          <p:spPr>
            <a:xfrm>
              <a:off x="0" y="0"/>
              <a:ext cx="1603022" cy="995519"/>
            </a:xfrm>
            <a:custGeom>
              <a:avLst/>
              <a:gdLst/>
              <a:ahLst/>
              <a:cxnLst/>
              <a:rect l="l" t="t" r="r" b="b"/>
              <a:pathLst>
                <a:path w="1603022" h="995519">
                  <a:moveTo>
                    <a:pt x="26831" y="0"/>
                  </a:moveTo>
                  <a:lnTo>
                    <a:pt x="1576191" y="0"/>
                  </a:lnTo>
                  <a:cubicBezTo>
                    <a:pt x="1591010" y="0"/>
                    <a:pt x="1603022" y="12013"/>
                    <a:pt x="1603022" y="26831"/>
                  </a:cubicBezTo>
                  <a:lnTo>
                    <a:pt x="1603022" y="968688"/>
                  </a:lnTo>
                  <a:cubicBezTo>
                    <a:pt x="1603022" y="983507"/>
                    <a:pt x="1591010" y="995519"/>
                    <a:pt x="1576191" y="995519"/>
                  </a:cubicBezTo>
                  <a:lnTo>
                    <a:pt x="26831" y="995519"/>
                  </a:lnTo>
                  <a:cubicBezTo>
                    <a:pt x="12013" y="995519"/>
                    <a:pt x="0" y="983507"/>
                    <a:pt x="0" y="968688"/>
                  </a:cubicBezTo>
                  <a:lnTo>
                    <a:pt x="0" y="26831"/>
                  </a:lnTo>
                  <a:cubicBezTo>
                    <a:pt x="0" y="12013"/>
                    <a:pt x="12013" y="0"/>
                    <a:pt x="26831" y="0"/>
                  </a:cubicBezTo>
                  <a:close/>
                </a:path>
              </a:pathLst>
            </a:custGeom>
            <a:solidFill>
              <a:srgbClr val="000000">
                <a:alpha val="0"/>
              </a:srgbClr>
            </a:solidFill>
            <a:ln w="9525" cap="sq">
              <a:solidFill>
                <a:srgbClr val="FFFFFF"/>
              </a:solidFill>
              <a:prstDash val="solid"/>
              <a:miter/>
            </a:ln>
          </p:spPr>
          <p:txBody>
            <a:bodyPr/>
            <a:lstStyle/>
            <a:p>
              <a:endParaRPr lang="en-US"/>
            </a:p>
          </p:txBody>
        </p:sp>
        <p:sp>
          <p:nvSpPr>
            <p:cNvPr id="8" name="TextBox 8"/>
            <p:cNvSpPr txBox="1"/>
            <p:nvPr/>
          </p:nvSpPr>
          <p:spPr>
            <a:xfrm>
              <a:off x="0" y="-9525"/>
              <a:ext cx="1603022" cy="1005044"/>
            </a:xfrm>
            <a:prstGeom prst="rect">
              <a:avLst/>
            </a:prstGeom>
          </p:spPr>
          <p:txBody>
            <a:bodyPr lIns="50800" tIns="50800" rIns="50800" bIns="50800" rtlCol="0" anchor="ctr"/>
            <a:lstStyle/>
            <a:p>
              <a:pPr algn="ctr">
                <a:lnSpc>
                  <a:spcPts val="1799"/>
                </a:lnSpc>
              </a:pPr>
              <a:endParaRPr/>
            </a:p>
          </p:txBody>
        </p:sp>
      </p:grpSp>
      <p:grpSp>
        <p:nvGrpSpPr>
          <p:cNvPr id="9" name="Group 9"/>
          <p:cNvGrpSpPr/>
          <p:nvPr/>
        </p:nvGrpSpPr>
        <p:grpSpPr>
          <a:xfrm>
            <a:off x="4876800" y="2043553"/>
            <a:ext cx="4328160" cy="1863781"/>
            <a:chOff x="0" y="0"/>
            <a:chExt cx="1603022" cy="690289"/>
          </a:xfrm>
        </p:grpSpPr>
        <p:sp>
          <p:nvSpPr>
            <p:cNvPr id="10" name="Freeform 10"/>
            <p:cNvSpPr/>
            <p:nvPr/>
          </p:nvSpPr>
          <p:spPr>
            <a:xfrm>
              <a:off x="0" y="0"/>
              <a:ext cx="1603022" cy="690289"/>
            </a:xfrm>
            <a:custGeom>
              <a:avLst/>
              <a:gdLst/>
              <a:ahLst/>
              <a:cxnLst/>
              <a:rect l="l" t="t" r="r" b="b"/>
              <a:pathLst>
                <a:path w="1603022" h="690289">
                  <a:moveTo>
                    <a:pt x="26831" y="0"/>
                  </a:moveTo>
                  <a:lnTo>
                    <a:pt x="1576191" y="0"/>
                  </a:lnTo>
                  <a:cubicBezTo>
                    <a:pt x="1591010" y="0"/>
                    <a:pt x="1603022" y="12013"/>
                    <a:pt x="1603022" y="26831"/>
                  </a:cubicBezTo>
                  <a:lnTo>
                    <a:pt x="1603022" y="663458"/>
                  </a:lnTo>
                  <a:cubicBezTo>
                    <a:pt x="1603022" y="678276"/>
                    <a:pt x="1591010" y="690289"/>
                    <a:pt x="1576191" y="690289"/>
                  </a:cubicBezTo>
                  <a:lnTo>
                    <a:pt x="26831" y="690289"/>
                  </a:lnTo>
                  <a:cubicBezTo>
                    <a:pt x="12013" y="690289"/>
                    <a:pt x="0" y="678276"/>
                    <a:pt x="0" y="663458"/>
                  </a:cubicBezTo>
                  <a:lnTo>
                    <a:pt x="0" y="26831"/>
                  </a:lnTo>
                  <a:cubicBezTo>
                    <a:pt x="0" y="12013"/>
                    <a:pt x="12013" y="0"/>
                    <a:pt x="26831" y="0"/>
                  </a:cubicBezTo>
                  <a:close/>
                </a:path>
              </a:pathLst>
            </a:custGeom>
            <a:solidFill>
              <a:srgbClr val="000000">
                <a:alpha val="0"/>
              </a:srgbClr>
            </a:solidFill>
            <a:ln w="9525" cap="sq">
              <a:solidFill>
                <a:srgbClr val="FFFFFF"/>
              </a:solidFill>
              <a:prstDash val="solid"/>
              <a:miter/>
            </a:ln>
          </p:spPr>
          <p:txBody>
            <a:bodyPr/>
            <a:lstStyle/>
            <a:p>
              <a:endParaRPr lang="en-US"/>
            </a:p>
          </p:txBody>
        </p:sp>
        <p:sp>
          <p:nvSpPr>
            <p:cNvPr id="11" name="TextBox 11"/>
            <p:cNvSpPr txBox="1"/>
            <p:nvPr/>
          </p:nvSpPr>
          <p:spPr>
            <a:xfrm>
              <a:off x="0" y="-9525"/>
              <a:ext cx="1603022" cy="699814"/>
            </a:xfrm>
            <a:prstGeom prst="rect">
              <a:avLst/>
            </a:prstGeom>
          </p:spPr>
          <p:txBody>
            <a:bodyPr lIns="50800" tIns="50800" rIns="50800" bIns="50800" rtlCol="0" anchor="ctr"/>
            <a:lstStyle/>
            <a:p>
              <a:pPr algn="ctr">
                <a:lnSpc>
                  <a:spcPts val="1799"/>
                </a:lnSpc>
              </a:pPr>
              <a:endParaRPr/>
            </a:p>
          </p:txBody>
        </p:sp>
      </p:grpSp>
      <p:pic>
        <p:nvPicPr>
          <p:cNvPr id="12" name="Picture 12"/>
          <p:cNvPicPr>
            <a:picLocks noChangeAspect="1"/>
          </p:cNvPicPr>
          <p:nvPr/>
        </p:nvPicPr>
        <p:blipFill>
          <a:blip r:embed="rId3"/>
          <a:stretch>
            <a:fillRect/>
          </a:stretch>
        </p:blipFill>
        <p:spPr>
          <a:xfrm>
            <a:off x="5029650" y="2100620"/>
            <a:ext cx="1456716" cy="1456716"/>
          </a:xfrm>
          <a:prstGeom prst="rect">
            <a:avLst/>
          </a:prstGeom>
        </p:spPr>
      </p:pic>
      <p:grpSp>
        <p:nvGrpSpPr>
          <p:cNvPr id="13" name="Group 13"/>
          <p:cNvGrpSpPr/>
          <p:nvPr/>
        </p:nvGrpSpPr>
        <p:grpSpPr>
          <a:xfrm>
            <a:off x="553402" y="552673"/>
            <a:ext cx="8656320" cy="1323588"/>
            <a:chOff x="0" y="0"/>
            <a:chExt cx="3206044" cy="490218"/>
          </a:xfrm>
        </p:grpSpPr>
        <p:sp>
          <p:nvSpPr>
            <p:cNvPr id="14" name="Freeform 14"/>
            <p:cNvSpPr/>
            <p:nvPr/>
          </p:nvSpPr>
          <p:spPr>
            <a:xfrm>
              <a:off x="0" y="0"/>
              <a:ext cx="3206044" cy="490218"/>
            </a:xfrm>
            <a:custGeom>
              <a:avLst/>
              <a:gdLst/>
              <a:ahLst/>
              <a:cxnLst/>
              <a:rect l="l" t="t" r="r" b="b"/>
              <a:pathLst>
                <a:path w="3206044" h="490218">
                  <a:moveTo>
                    <a:pt x="13415" y="0"/>
                  </a:moveTo>
                  <a:lnTo>
                    <a:pt x="3192629" y="0"/>
                  </a:lnTo>
                  <a:cubicBezTo>
                    <a:pt x="3200038" y="0"/>
                    <a:pt x="3206044" y="6006"/>
                    <a:pt x="3206044" y="13415"/>
                  </a:cubicBezTo>
                  <a:lnTo>
                    <a:pt x="3206044" y="476802"/>
                  </a:lnTo>
                  <a:cubicBezTo>
                    <a:pt x="3206044" y="484211"/>
                    <a:pt x="3200038" y="490218"/>
                    <a:pt x="3192629" y="490218"/>
                  </a:cubicBezTo>
                  <a:lnTo>
                    <a:pt x="13415" y="490218"/>
                  </a:lnTo>
                  <a:cubicBezTo>
                    <a:pt x="6006" y="490218"/>
                    <a:pt x="0" y="484211"/>
                    <a:pt x="0" y="476802"/>
                  </a:cubicBezTo>
                  <a:lnTo>
                    <a:pt x="0" y="13415"/>
                  </a:lnTo>
                  <a:cubicBezTo>
                    <a:pt x="0" y="6006"/>
                    <a:pt x="6006" y="0"/>
                    <a:pt x="13415" y="0"/>
                  </a:cubicBezTo>
                  <a:close/>
                </a:path>
              </a:pathLst>
            </a:custGeom>
            <a:solidFill>
              <a:srgbClr val="000000">
                <a:alpha val="0"/>
              </a:srgbClr>
            </a:solidFill>
            <a:ln w="9525" cap="sq">
              <a:solidFill>
                <a:srgbClr val="FFFFFF"/>
              </a:solidFill>
              <a:prstDash val="solid"/>
              <a:miter/>
            </a:ln>
          </p:spPr>
          <p:txBody>
            <a:bodyPr/>
            <a:lstStyle/>
            <a:p>
              <a:endParaRPr lang="en-US"/>
            </a:p>
          </p:txBody>
        </p:sp>
        <p:sp>
          <p:nvSpPr>
            <p:cNvPr id="15" name="TextBox 15"/>
            <p:cNvSpPr txBox="1"/>
            <p:nvPr/>
          </p:nvSpPr>
          <p:spPr>
            <a:xfrm>
              <a:off x="0" y="-9525"/>
              <a:ext cx="3206044" cy="499743"/>
            </a:xfrm>
            <a:prstGeom prst="rect">
              <a:avLst/>
            </a:prstGeom>
          </p:spPr>
          <p:txBody>
            <a:bodyPr lIns="50800" tIns="50800" rIns="50800" bIns="50800" rtlCol="0" anchor="ctr"/>
            <a:lstStyle/>
            <a:p>
              <a:pPr algn="ctr">
                <a:lnSpc>
                  <a:spcPts val="1799"/>
                </a:lnSpc>
              </a:pPr>
              <a:endParaRPr/>
            </a:p>
          </p:txBody>
        </p:sp>
      </p:grpSp>
      <p:sp>
        <p:nvSpPr>
          <p:cNvPr id="16" name="TextBox 16"/>
          <p:cNvSpPr txBox="1"/>
          <p:nvPr/>
        </p:nvSpPr>
        <p:spPr>
          <a:xfrm>
            <a:off x="790575" y="820320"/>
            <a:ext cx="8290560" cy="769441"/>
          </a:xfrm>
          <a:prstGeom prst="rect">
            <a:avLst/>
          </a:prstGeom>
        </p:spPr>
        <p:txBody>
          <a:bodyPr lIns="0" tIns="0" rIns="0" bIns="0" rtlCol="0" anchor="t">
            <a:spAutoFit/>
          </a:bodyPr>
          <a:lstStyle/>
          <a:p>
            <a:pPr algn="ctr">
              <a:lnSpc>
                <a:spcPts val="2999"/>
              </a:lnSpc>
            </a:pPr>
            <a:r>
              <a:rPr lang="en-US" sz="2400" b="1" dirty="0">
                <a:solidFill>
                  <a:srgbClr val="FFFFFF"/>
                </a:solidFill>
                <a:latin typeface="Canva Sans Bold"/>
                <a:ea typeface="Canva Sans Bold"/>
                <a:cs typeface="Canva Sans Bold"/>
                <a:sym typeface="Canva Sans Bold"/>
              </a:rPr>
              <a:t>INDUSTRY ATTRACTIVENESS: OATLY &amp; THE PLANT-BASED MILK MARKET</a:t>
            </a:r>
          </a:p>
        </p:txBody>
      </p:sp>
      <p:grpSp>
        <p:nvGrpSpPr>
          <p:cNvPr id="17" name="Group 17"/>
          <p:cNvGrpSpPr/>
          <p:nvPr/>
        </p:nvGrpSpPr>
        <p:grpSpPr>
          <a:xfrm>
            <a:off x="553402" y="5418576"/>
            <a:ext cx="4128983" cy="1477301"/>
            <a:chOff x="0" y="0"/>
            <a:chExt cx="5505311" cy="1969735"/>
          </a:xfrm>
        </p:grpSpPr>
        <p:grpSp>
          <p:nvGrpSpPr>
            <p:cNvPr id="18" name="Group 18"/>
            <p:cNvGrpSpPr/>
            <p:nvPr/>
          </p:nvGrpSpPr>
          <p:grpSpPr>
            <a:xfrm>
              <a:off x="0" y="0"/>
              <a:ext cx="5505311" cy="1969735"/>
              <a:chOff x="0" y="0"/>
              <a:chExt cx="1529253" cy="547148"/>
            </a:xfrm>
          </p:grpSpPr>
          <p:sp>
            <p:nvSpPr>
              <p:cNvPr id="19" name="Freeform 19"/>
              <p:cNvSpPr/>
              <p:nvPr/>
            </p:nvSpPr>
            <p:spPr>
              <a:xfrm>
                <a:off x="0" y="0"/>
                <a:ext cx="1529253" cy="547148"/>
              </a:xfrm>
              <a:custGeom>
                <a:avLst/>
                <a:gdLst/>
                <a:ahLst/>
                <a:cxnLst/>
                <a:rect l="l" t="t" r="r" b="b"/>
                <a:pathLst>
                  <a:path w="1529253" h="547148">
                    <a:moveTo>
                      <a:pt x="28125" y="0"/>
                    </a:moveTo>
                    <a:lnTo>
                      <a:pt x="1501128" y="0"/>
                    </a:lnTo>
                    <a:cubicBezTo>
                      <a:pt x="1516661" y="0"/>
                      <a:pt x="1529253" y="12592"/>
                      <a:pt x="1529253" y="28125"/>
                    </a:cubicBezTo>
                    <a:lnTo>
                      <a:pt x="1529253" y="519023"/>
                    </a:lnTo>
                    <a:cubicBezTo>
                      <a:pt x="1529253" y="534556"/>
                      <a:pt x="1516661" y="547148"/>
                      <a:pt x="1501128" y="547148"/>
                    </a:cubicBezTo>
                    <a:lnTo>
                      <a:pt x="28125" y="547148"/>
                    </a:lnTo>
                    <a:cubicBezTo>
                      <a:pt x="12592" y="547148"/>
                      <a:pt x="0" y="534556"/>
                      <a:pt x="0" y="519023"/>
                    </a:cubicBezTo>
                    <a:lnTo>
                      <a:pt x="0" y="28125"/>
                    </a:lnTo>
                    <a:cubicBezTo>
                      <a:pt x="0" y="12592"/>
                      <a:pt x="12592" y="0"/>
                      <a:pt x="28125" y="0"/>
                    </a:cubicBezTo>
                    <a:close/>
                  </a:path>
                </a:pathLst>
              </a:custGeom>
              <a:solidFill>
                <a:srgbClr val="000000">
                  <a:alpha val="0"/>
                </a:srgbClr>
              </a:solidFill>
              <a:ln w="9525" cap="sq">
                <a:solidFill>
                  <a:srgbClr val="FFFFFF"/>
                </a:solidFill>
                <a:prstDash val="solid"/>
                <a:miter/>
              </a:ln>
            </p:spPr>
            <p:txBody>
              <a:bodyPr/>
              <a:lstStyle/>
              <a:p>
                <a:endParaRPr lang="en-US"/>
              </a:p>
            </p:txBody>
          </p:sp>
          <p:sp>
            <p:nvSpPr>
              <p:cNvPr id="20" name="TextBox 20"/>
              <p:cNvSpPr txBox="1"/>
              <p:nvPr/>
            </p:nvSpPr>
            <p:spPr>
              <a:xfrm>
                <a:off x="0" y="-9525"/>
                <a:ext cx="1529253" cy="556673"/>
              </a:xfrm>
              <a:prstGeom prst="rect">
                <a:avLst/>
              </a:prstGeom>
            </p:spPr>
            <p:txBody>
              <a:bodyPr lIns="50800" tIns="50800" rIns="50800" bIns="50800" rtlCol="0" anchor="ctr"/>
              <a:lstStyle/>
              <a:p>
                <a:pPr algn="ctr">
                  <a:lnSpc>
                    <a:spcPts val="1799"/>
                  </a:lnSpc>
                </a:pPr>
                <a:endParaRPr/>
              </a:p>
            </p:txBody>
          </p:sp>
        </p:grpSp>
        <p:sp>
          <p:nvSpPr>
            <p:cNvPr id="21" name="TextBox 21"/>
            <p:cNvSpPr txBox="1"/>
            <p:nvPr/>
          </p:nvSpPr>
          <p:spPr>
            <a:xfrm>
              <a:off x="260965" y="718095"/>
              <a:ext cx="4983381" cy="889000"/>
            </a:xfrm>
            <a:prstGeom prst="rect">
              <a:avLst/>
            </a:prstGeom>
          </p:spPr>
          <p:txBody>
            <a:bodyPr lIns="0" tIns="0" rIns="0" bIns="0" rtlCol="0" anchor="t">
              <a:spAutoFit/>
            </a:bodyPr>
            <a:lstStyle/>
            <a:p>
              <a:pPr marL="194310" lvl="1" indent="-97155" algn="l">
                <a:lnSpc>
                  <a:spcPts val="1080"/>
                </a:lnSpc>
                <a:buFont typeface="Arial"/>
                <a:buChar char="•"/>
              </a:pPr>
              <a:r>
                <a:rPr lang="en-US" sz="900">
                  <a:solidFill>
                    <a:srgbClr val="FFFFFF"/>
                  </a:solidFill>
                  <a:latin typeface="Poppins"/>
                  <a:ea typeface="Poppins"/>
                  <a:cs typeface="Poppins"/>
                  <a:sym typeface="Poppins"/>
                </a:rPr>
                <a:t>Market Growth: The oat milk industry is projected to reach $5.37 billion by 2029, with a CAGR of 13.69%.</a:t>
              </a:r>
            </a:p>
            <a:p>
              <a:pPr marL="194310" lvl="1" indent="-97155" algn="l">
                <a:lnSpc>
                  <a:spcPts val="1080"/>
                </a:lnSpc>
                <a:buFont typeface="Arial"/>
                <a:buChar char="•"/>
              </a:pPr>
              <a:r>
                <a:rPr lang="en-US" sz="900">
                  <a:solidFill>
                    <a:srgbClr val="FFFFFF"/>
                  </a:solidFill>
                  <a:latin typeface="Poppins"/>
                  <a:ea typeface="Poppins"/>
                  <a:cs typeface="Poppins"/>
                  <a:sym typeface="Poppins"/>
                </a:rPr>
                <a:t>Profitability: Revenue for Oatly increased by 9.6% in Q3 2024, showing strong market demand.</a:t>
              </a:r>
            </a:p>
            <a:p>
              <a:pPr algn="l">
                <a:lnSpc>
                  <a:spcPts val="1080"/>
                </a:lnSpc>
              </a:pPr>
              <a:endParaRPr lang="en-US" sz="900">
                <a:solidFill>
                  <a:srgbClr val="FFFFFF"/>
                </a:solidFill>
                <a:latin typeface="Poppins"/>
                <a:ea typeface="Poppins"/>
                <a:cs typeface="Poppins"/>
                <a:sym typeface="Poppins"/>
              </a:endParaRPr>
            </a:p>
          </p:txBody>
        </p:sp>
        <p:sp>
          <p:nvSpPr>
            <p:cNvPr id="22" name="TextBox 22"/>
            <p:cNvSpPr txBox="1"/>
            <p:nvPr/>
          </p:nvSpPr>
          <p:spPr>
            <a:xfrm>
              <a:off x="260965" y="343589"/>
              <a:ext cx="4983381" cy="298450"/>
            </a:xfrm>
            <a:prstGeom prst="rect">
              <a:avLst/>
            </a:prstGeom>
          </p:spPr>
          <p:txBody>
            <a:bodyPr lIns="0" tIns="0" rIns="0" bIns="0" rtlCol="0" anchor="t">
              <a:spAutoFit/>
            </a:bodyPr>
            <a:lstStyle/>
            <a:p>
              <a:pPr algn="l">
                <a:lnSpc>
                  <a:spcPts val="1679"/>
                </a:lnSpc>
              </a:pPr>
              <a:r>
                <a:rPr lang="en-US" sz="1399">
                  <a:solidFill>
                    <a:srgbClr val="FFFFFF"/>
                  </a:solidFill>
                  <a:latin typeface="Poppins"/>
                  <a:ea typeface="Poppins"/>
                  <a:cs typeface="Poppins"/>
                  <a:sym typeface="Poppins"/>
                </a:rPr>
                <a:t>Market Growth and Profitability</a:t>
              </a:r>
            </a:p>
          </p:txBody>
        </p:sp>
      </p:grpSp>
      <p:sp>
        <p:nvSpPr>
          <p:cNvPr id="23" name="TextBox 23"/>
          <p:cNvSpPr txBox="1"/>
          <p:nvPr/>
        </p:nvSpPr>
        <p:spPr>
          <a:xfrm>
            <a:off x="6482157" y="2567040"/>
            <a:ext cx="2533416" cy="771525"/>
          </a:xfrm>
          <a:prstGeom prst="rect">
            <a:avLst/>
          </a:prstGeom>
        </p:spPr>
        <p:txBody>
          <a:bodyPr lIns="0" tIns="0" rIns="0" bIns="0" rtlCol="0" anchor="t">
            <a:spAutoFit/>
          </a:bodyPr>
          <a:lstStyle/>
          <a:p>
            <a:pPr algn="l">
              <a:lnSpc>
                <a:spcPts val="1200"/>
              </a:lnSpc>
            </a:pPr>
            <a:r>
              <a:rPr lang="en-US" sz="1000">
                <a:solidFill>
                  <a:srgbClr val="FFFFFF"/>
                </a:solidFill>
                <a:latin typeface="Poppins"/>
                <a:ea typeface="Poppins"/>
                <a:cs typeface="Poppins"/>
                <a:sym typeface="Poppins"/>
              </a:rPr>
              <a:t>H: Health Consciousness (lactose intolerance, cholesterol concerns)</a:t>
            </a:r>
          </a:p>
          <a:p>
            <a:pPr algn="l">
              <a:lnSpc>
                <a:spcPts val="1200"/>
              </a:lnSpc>
            </a:pPr>
            <a:r>
              <a:rPr lang="en-US" sz="1000">
                <a:solidFill>
                  <a:srgbClr val="FFFFFF"/>
                </a:solidFill>
                <a:latin typeface="Poppins"/>
                <a:ea typeface="Poppins"/>
                <a:cs typeface="Poppins"/>
                <a:sym typeface="Poppins"/>
              </a:rPr>
              <a:t>V&amp;S: Veganism &amp; Sustainability trends</a:t>
            </a:r>
          </a:p>
          <a:p>
            <a:pPr algn="l">
              <a:lnSpc>
                <a:spcPts val="1200"/>
              </a:lnSpc>
            </a:pPr>
            <a:r>
              <a:rPr lang="en-US" sz="1000">
                <a:solidFill>
                  <a:srgbClr val="FFFFFF"/>
                </a:solidFill>
                <a:latin typeface="Poppins"/>
                <a:ea typeface="Poppins"/>
                <a:cs typeface="Poppins"/>
                <a:sym typeface="Poppins"/>
              </a:rPr>
              <a:t>PBD: Growing preference for plant-based diets</a:t>
            </a:r>
          </a:p>
        </p:txBody>
      </p:sp>
      <p:sp>
        <p:nvSpPr>
          <p:cNvPr id="24" name="TextBox 24"/>
          <p:cNvSpPr txBox="1"/>
          <p:nvPr/>
        </p:nvSpPr>
        <p:spPr>
          <a:xfrm>
            <a:off x="6482157" y="2300340"/>
            <a:ext cx="2539923" cy="228600"/>
          </a:xfrm>
          <a:prstGeom prst="rect">
            <a:avLst/>
          </a:prstGeom>
        </p:spPr>
        <p:txBody>
          <a:bodyPr lIns="0" tIns="0" rIns="0" bIns="0" rtlCol="0" anchor="t">
            <a:spAutoFit/>
          </a:bodyPr>
          <a:lstStyle/>
          <a:p>
            <a:pPr algn="l">
              <a:lnSpc>
                <a:spcPts val="1679"/>
              </a:lnSpc>
            </a:pPr>
            <a:r>
              <a:rPr lang="en-US" sz="1399">
                <a:solidFill>
                  <a:srgbClr val="FFFFFF"/>
                </a:solidFill>
                <a:latin typeface="Poppins"/>
                <a:ea typeface="Poppins"/>
                <a:cs typeface="Poppins"/>
                <a:sym typeface="Poppins"/>
              </a:rPr>
              <a:t>Key Demand Drivers</a:t>
            </a:r>
          </a:p>
        </p:txBody>
      </p:sp>
      <p:sp>
        <p:nvSpPr>
          <p:cNvPr id="25" name="TextBox 25"/>
          <p:cNvSpPr txBox="1"/>
          <p:nvPr/>
        </p:nvSpPr>
        <p:spPr>
          <a:xfrm>
            <a:off x="5066448" y="4495800"/>
            <a:ext cx="3146359" cy="228600"/>
          </a:xfrm>
          <a:prstGeom prst="rect">
            <a:avLst/>
          </a:prstGeom>
        </p:spPr>
        <p:txBody>
          <a:bodyPr lIns="0" tIns="0" rIns="0" bIns="0" rtlCol="0" anchor="t">
            <a:spAutoFit/>
          </a:bodyPr>
          <a:lstStyle/>
          <a:p>
            <a:pPr algn="l">
              <a:lnSpc>
                <a:spcPts val="1679"/>
              </a:lnSpc>
            </a:pPr>
            <a:r>
              <a:rPr lang="en-US" sz="1399" dirty="0">
                <a:solidFill>
                  <a:srgbClr val="FFFFFF"/>
                </a:solidFill>
                <a:latin typeface="Poppins"/>
                <a:ea typeface="Poppins"/>
                <a:cs typeface="Poppins"/>
                <a:sym typeface="Poppins"/>
              </a:rPr>
              <a:t>Barriers to Entry</a:t>
            </a:r>
          </a:p>
        </p:txBody>
      </p:sp>
      <p:grpSp>
        <p:nvGrpSpPr>
          <p:cNvPr id="26" name="Group 26"/>
          <p:cNvGrpSpPr/>
          <p:nvPr/>
        </p:nvGrpSpPr>
        <p:grpSpPr>
          <a:xfrm>
            <a:off x="7865143" y="3524714"/>
            <a:ext cx="190036" cy="190036"/>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28181"/>
            </a:solidFill>
          </p:spPr>
          <p:txBody>
            <a:bodyPr/>
            <a:lstStyle/>
            <a:p>
              <a:endParaRPr lang="en-US"/>
            </a:p>
          </p:txBody>
        </p:sp>
        <p:sp>
          <p:nvSpPr>
            <p:cNvPr id="28" name="TextBox 28"/>
            <p:cNvSpPr txBox="1"/>
            <p:nvPr/>
          </p:nvSpPr>
          <p:spPr>
            <a:xfrm>
              <a:off x="76200" y="66675"/>
              <a:ext cx="660400" cy="669925"/>
            </a:xfrm>
            <a:prstGeom prst="rect">
              <a:avLst/>
            </a:prstGeom>
          </p:spPr>
          <p:txBody>
            <a:bodyPr lIns="50800" tIns="50800" rIns="50800" bIns="50800" rtlCol="0" anchor="ctr"/>
            <a:lstStyle/>
            <a:p>
              <a:pPr algn="ctr">
                <a:lnSpc>
                  <a:spcPts val="1799"/>
                </a:lnSpc>
              </a:pPr>
              <a:endParaRPr/>
            </a:p>
          </p:txBody>
        </p:sp>
      </p:grpSp>
      <p:grpSp>
        <p:nvGrpSpPr>
          <p:cNvPr id="29" name="Group 29"/>
          <p:cNvGrpSpPr/>
          <p:nvPr/>
        </p:nvGrpSpPr>
        <p:grpSpPr>
          <a:xfrm>
            <a:off x="6611586" y="3524714"/>
            <a:ext cx="190036" cy="190036"/>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9D9D9"/>
            </a:solidFill>
          </p:spPr>
          <p:txBody>
            <a:bodyPr/>
            <a:lstStyle/>
            <a:p>
              <a:endParaRPr lang="en-US"/>
            </a:p>
          </p:txBody>
        </p:sp>
        <p:sp>
          <p:nvSpPr>
            <p:cNvPr id="31" name="TextBox 31"/>
            <p:cNvSpPr txBox="1"/>
            <p:nvPr/>
          </p:nvSpPr>
          <p:spPr>
            <a:xfrm>
              <a:off x="76200" y="66675"/>
              <a:ext cx="660400" cy="669925"/>
            </a:xfrm>
            <a:prstGeom prst="rect">
              <a:avLst/>
            </a:prstGeom>
          </p:spPr>
          <p:txBody>
            <a:bodyPr lIns="50800" tIns="50800" rIns="50800" bIns="50800" rtlCol="0" anchor="ctr"/>
            <a:lstStyle/>
            <a:p>
              <a:pPr algn="ctr">
                <a:lnSpc>
                  <a:spcPts val="1799"/>
                </a:lnSpc>
              </a:pPr>
              <a:endParaRPr/>
            </a:p>
          </p:txBody>
        </p:sp>
      </p:grpSp>
      <p:grpSp>
        <p:nvGrpSpPr>
          <p:cNvPr id="32" name="Group 32"/>
          <p:cNvGrpSpPr/>
          <p:nvPr/>
        </p:nvGrpSpPr>
        <p:grpSpPr>
          <a:xfrm>
            <a:off x="5334734" y="3524714"/>
            <a:ext cx="190036" cy="190036"/>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34" name="TextBox 34"/>
            <p:cNvSpPr txBox="1"/>
            <p:nvPr/>
          </p:nvSpPr>
          <p:spPr>
            <a:xfrm>
              <a:off x="76200" y="66675"/>
              <a:ext cx="660400" cy="669925"/>
            </a:xfrm>
            <a:prstGeom prst="rect">
              <a:avLst/>
            </a:prstGeom>
          </p:spPr>
          <p:txBody>
            <a:bodyPr lIns="50800" tIns="50800" rIns="50800" bIns="50800" rtlCol="0" anchor="ctr"/>
            <a:lstStyle/>
            <a:p>
              <a:pPr algn="ctr">
                <a:lnSpc>
                  <a:spcPts val="1799"/>
                </a:lnSpc>
              </a:pPr>
              <a:endParaRPr/>
            </a:p>
          </p:txBody>
        </p:sp>
      </p:grpSp>
      <p:sp>
        <p:nvSpPr>
          <p:cNvPr id="35" name="TextBox 35"/>
          <p:cNvSpPr txBox="1"/>
          <p:nvPr/>
        </p:nvSpPr>
        <p:spPr>
          <a:xfrm>
            <a:off x="8150430" y="3515189"/>
            <a:ext cx="865143" cy="190500"/>
          </a:xfrm>
          <a:prstGeom prst="rect">
            <a:avLst/>
          </a:prstGeom>
        </p:spPr>
        <p:txBody>
          <a:bodyPr lIns="0" tIns="0" rIns="0" bIns="0" rtlCol="0" anchor="t">
            <a:spAutoFit/>
          </a:bodyPr>
          <a:lstStyle/>
          <a:p>
            <a:pPr algn="l">
              <a:lnSpc>
                <a:spcPts val="1439"/>
              </a:lnSpc>
            </a:pPr>
            <a:r>
              <a:rPr lang="en-US" sz="1199">
                <a:solidFill>
                  <a:srgbClr val="FFFFFF"/>
                </a:solidFill>
                <a:latin typeface="Poppins"/>
                <a:ea typeface="Poppins"/>
                <a:cs typeface="Poppins"/>
                <a:sym typeface="Poppins"/>
              </a:rPr>
              <a:t>PBD</a:t>
            </a:r>
          </a:p>
        </p:txBody>
      </p:sp>
      <p:sp>
        <p:nvSpPr>
          <p:cNvPr id="36" name="TextBox 36"/>
          <p:cNvSpPr txBox="1"/>
          <p:nvPr/>
        </p:nvSpPr>
        <p:spPr>
          <a:xfrm>
            <a:off x="6894506" y="3515189"/>
            <a:ext cx="1012634" cy="190500"/>
          </a:xfrm>
          <a:prstGeom prst="rect">
            <a:avLst/>
          </a:prstGeom>
        </p:spPr>
        <p:txBody>
          <a:bodyPr lIns="0" tIns="0" rIns="0" bIns="0" rtlCol="0" anchor="t">
            <a:spAutoFit/>
          </a:bodyPr>
          <a:lstStyle/>
          <a:p>
            <a:pPr algn="l">
              <a:lnSpc>
                <a:spcPts val="1439"/>
              </a:lnSpc>
            </a:pPr>
            <a:r>
              <a:rPr lang="en-US" sz="1199">
                <a:solidFill>
                  <a:srgbClr val="FFFFFF"/>
                </a:solidFill>
                <a:latin typeface="Poppins"/>
                <a:ea typeface="Poppins"/>
                <a:cs typeface="Poppins"/>
                <a:sym typeface="Poppins"/>
              </a:rPr>
              <a:t>V &amp; S</a:t>
            </a:r>
          </a:p>
        </p:txBody>
      </p:sp>
      <p:sp>
        <p:nvSpPr>
          <p:cNvPr id="37" name="TextBox 37"/>
          <p:cNvSpPr txBox="1"/>
          <p:nvPr/>
        </p:nvSpPr>
        <p:spPr>
          <a:xfrm>
            <a:off x="5622417" y="3515189"/>
            <a:ext cx="977278" cy="190500"/>
          </a:xfrm>
          <a:prstGeom prst="rect">
            <a:avLst/>
          </a:prstGeom>
        </p:spPr>
        <p:txBody>
          <a:bodyPr lIns="0" tIns="0" rIns="0" bIns="0" rtlCol="0" anchor="t">
            <a:spAutoFit/>
          </a:bodyPr>
          <a:lstStyle/>
          <a:p>
            <a:pPr algn="l">
              <a:lnSpc>
                <a:spcPts val="1439"/>
              </a:lnSpc>
            </a:pPr>
            <a:r>
              <a:rPr lang="en-US" sz="1199">
                <a:solidFill>
                  <a:srgbClr val="FFFFFF"/>
                </a:solidFill>
                <a:latin typeface="Poppins"/>
                <a:ea typeface="Poppins"/>
                <a:cs typeface="Poppins"/>
                <a:sym typeface="Poppins"/>
              </a:rPr>
              <a:t>H</a:t>
            </a:r>
          </a:p>
        </p:txBody>
      </p:sp>
      <p:sp>
        <p:nvSpPr>
          <p:cNvPr id="38" name="TextBox 38"/>
          <p:cNvSpPr txBox="1"/>
          <p:nvPr/>
        </p:nvSpPr>
        <p:spPr>
          <a:xfrm>
            <a:off x="5029200" y="5157614"/>
            <a:ext cx="3772253" cy="1166986"/>
          </a:xfrm>
          <a:prstGeom prst="rect">
            <a:avLst/>
          </a:prstGeom>
        </p:spPr>
        <p:txBody>
          <a:bodyPr lIns="0" tIns="0" rIns="0" bIns="0" rtlCol="0" anchor="t">
            <a:spAutoFit/>
          </a:bodyPr>
          <a:lstStyle/>
          <a:p>
            <a:pPr marL="171450" lvl="0" indent="-171450" algn="l">
              <a:lnSpc>
                <a:spcPts val="1320"/>
              </a:lnSpc>
              <a:spcBef>
                <a:spcPct val="0"/>
              </a:spcBef>
              <a:buFont typeface="Arial" panose="020B0604020202020204" pitchFamily="34" charset="0"/>
              <a:buChar char="•"/>
            </a:pPr>
            <a:r>
              <a:rPr lang="en-US" sz="1100" u="none" strike="noStrike" dirty="0">
                <a:solidFill>
                  <a:srgbClr val="FFFFFF"/>
                </a:solidFill>
                <a:latin typeface="Poppins"/>
                <a:ea typeface="Poppins"/>
                <a:cs typeface="Poppins"/>
                <a:sym typeface="Poppins"/>
              </a:rPr>
              <a:t>High brand loyalty (</a:t>
            </a:r>
            <a:r>
              <a:rPr lang="en-US" sz="1100" u="none" strike="noStrike" dirty="0" err="1">
                <a:solidFill>
                  <a:srgbClr val="FFFFFF"/>
                </a:solidFill>
                <a:latin typeface="Poppins"/>
                <a:ea typeface="Poppins"/>
                <a:cs typeface="Poppins"/>
                <a:sym typeface="Poppins"/>
              </a:rPr>
              <a:t>Oatly</a:t>
            </a:r>
            <a:r>
              <a:rPr lang="en-US" sz="1100" u="none" strike="noStrike" dirty="0">
                <a:solidFill>
                  <a:srgbClr val="FFFFFF"/>
                </a:solidFill>
                <a:latin typeface="Poppins"/>
                <a:ea typeface="Poppins"/>
                <a:cs typeface="Poppins"/>
                <a:sym typeface="Poppins"/>
              </a:rPr>
              <a:t>, </a:t>
            </a:r>
            <a:r>
              <a:rPr lang="en-US" sz="1100" u="none" strike="noStrike" dirty="0" err="1">
                <a:solidFill>
                  <a:srgbClr val="FFFFFF"/>
                </a:solidFill>
                <a:latin typeface="Poppins"/>
                <a:ea typeface="Poppins"/>
                <a:cs typeface="Poppins"/>
                <a:sym typeface="Poppins"/>
              </a:rPr>
              <a:t>Alpro</a:t>
            </a:r>
            <a:r>
              <a:rPr lang="en-US" sz="1100" u="none" strike="noStrike" dirty="0">
                <a:solidFill>
                  <a:srgbClr val="FFFFFF"/>
                </a:solidFill>
                <a:latin typeface="Poppins"/>
                <a:ea typeface="Poppins"/>
                <a:cs typeface="Poppins"/>
                <a:sym typeface="Poppins"/>
              </a:rPr>
              <a:t>, Califia Farms dominate)</a:t>
            </a:r>
          </a:p>
          <a:p>
            <a:pPr marL="171450" lvl="0" indent="-171450" algn="l">
              <a:lnSpc>
                <a:spcPts val="1320"/>
              </a:lnSpc>
              <a:spcBef>
                <a:spcPct val="0"/>
              </a:spcBef>
              <a:buFont typeface="Arial" panose="020B0604020202020204" pitchFamily="34" charset="0"/>
              <a:buChar char="•"/>
            </a:pPr>
            <a:r>
              <a:rPr lang="en-US" sz="1100" u="none" strike="noStrike" dirty="0">
                <a:solidFill>
                  <a:srgbClr val="FFFFFF"/>
                </a:solidFill>
                <a:latin typeface="Poppins"/>
                <a:ea typeface="Poppins"/>
                <a:cs typeface="Poppins"/>
                <a:sym typeface="Poppins"/>
              </a:rPr>
              <a:t>Supply chain complexity (sourcing high-quality oats, production scale)</a:t>
            </a:r>
          </a:p>
          <a:p>
            <a:pPr marL="171450" lvl="0" indent="-171450" algn="l">
              <a:lnSpc>
                <a:spcPts val="1320"/>
              </a:lnSpc>
              <a:spcBef>
                <a:spcPct val="0"/>
              </a:spcBef>
              <a:buFont typeface="Arial" panose="020B0604020202020204" pitchFamily="34" charset="0"/>
              <a:buChar char="•"/>
            </a:pPr>
            <a:r>
              <a:rPr lang="en-US" sz="1100" u="none" strike="noStrike" dirty="0">
                <a:solidFill>
                  <a:srgbClr val="FFFFFF"/>
                </a:solidFill>
                <a:latin typeface="Poppins"/>
                <a:ea typeface="Poppins"/>
                <a:cs typeface="Poppins"/>
                <a:sym typeface="Poppins"/>
              </a:rPr>
              <a:t>Regulatory constraints (labeling restrictions, dairy industry lobbying)</a:t>
            </a:r>
          </a:p>
          <a:p>
            <a:pPr marL="0" lvl="0" indent="0" algn="l">
              <a:lnSpc>
                <a:spcPts val="1320"/>
              </a:lnSpc>
              <a:spcBef>
                <a:spcPct val="0"/>
              </a:spcBef>
            </a:pPr>
            <a:r>
              <a:rPr lang="en-US" sz="1100" u="none" strike="noStrike" dirty="0">
                <a:solidFill>
                  <a:srgbClr val="FFFFFF"/>
                </a:solidFill>
                <a:latin typeface="Poppins"/>
                <a:ea typeface="Poppins"/>
                <a:cs typeface="Poppins"/>
                <a:sym typeface="Poppins"/>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C04F0-FE68-C8F7-D7A6-54C3AB16FAE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603DA6D-3ACD-45B7-5D03-05C8EA0CAC1B}"/>
              </a:ext>
            </a:extLst>
          </p:cNvPr>
          <p:cNvSpPr>
            <a:spLocks noGrp="1"/>
          </p:cNvSpPr>
          <p:nvPr>
            <p:ph type="title"/>
          </p:nvPr>
        </p:nvSpPr>
        <p:spPr>
          <a:xfrm>
            <a:off x="670560" y="1206501"/>
            <a:ext cx="8444011" cy="779394"/>
          </a:xfrm>
        </p:spPr>
        <p:txBody>
          <a:bodyPr>
            <a:normAutofit fontScale="90000"/>
          </a:bodyPr>
          <a:lstStyle/>
          <a:p>
            <a:r>
              <a:rPr kumimoji="1" lang="en-US" altLang="zh-CN" dirty="0"/>
              <a:t>Global</a:t>
            </a:r>
            <a:r>
              <a:rPr kumimoji="1" lang="zh-CN" altLang="en-US" dirty="0"/>
              <a:t> </a:t>
            </a:r>
            <a:r>
              <a:rPr kumimoji="1" lang="en-US" altLang="zh-CN" dirty="0"/>
              <a:t>and Regional</a:t>
            </a:r>
            <a:r>
              <a:rPr kumimoji="1" lang="zh-CN" altLang="en-US" dirty="0"/>
              <a:t> </a:t>
            </a:r>
            <a:r>
              <a:rPr kumimoji="1" lang="en-US" altLang="zh-CN" dirty="0"/>
              <a:t>Milk Substitutes Market</a:t>
            </a:r>
            <a:r>
              <a:rPr kumimoji="1" lang="zh-CN" altLang="en-US" dirty="0"/>
              <a:t> </a:t>
            </a:r>
            <a:r>
              <a:rPr kumimoji="1" lang="en-US" altLang="zh-CN" dirty="0"/>
              <a:t>Analysis</a:t>
            </a:r>
            <a:endParaRPr kumimoji="1" lang="zh-CN" altLang="en-US" dirty="0"/>
          </a:p>
        </p:txBody>
      </p:sp>
      <p:pic>
        <p:nvPicPr>
          <p:cNvPr id="3" name="图片 2">
            <a:extLst>
              <a:ext uri="{FF2B5EF4-FFF2-40B4-BE49-F238E27FC236}">
                <a16:creationId xmlns:a16="http://schemas.microsoft.com/office/drawing/2014/main" id="{35D1420E-45A1-54C6-D6A2-8A441331AF88}"/>
              </a:ext>
            </a:extLst>
          </p:cNvPr>
          <p:cNvPicPr>
            <a:picLocks noChangeAspect="1"/>
          </p:cNvPicPr>
          <p:nvPr/>
        </p:nvPicPr>
        <p:blipFill>
          <a:blip r:embed="rId2"/>
          <a:stretch>
            <a:fillRect/>
          </a:stretch>
        </p:blipFill>
        <p:spPr>
          <a:xfrm>
            <a:off x="489331" y="2281360"/>
            <a:ext cx="3062714" cy="1900841"/>
          </a:xfrm>
          <a:prstGeom prst="rect">
            <a:avLst/>
          </a:prstGeom>
        </p:spPr>
      </p:pic>
      <p:pic>
        <p:nvPicPr>
          <p:cNvPr id="6" name="图片 5">
            <a:extLst>
              <a:ext uri="{FF2B5EF4-FFF2-40B4-BE49-F238E27FC236}">
                <a16:creationId xmlns:a16="http://schemas.microsoft.com/office/drawing/2014/main" id="{5BA334BA-C888-CC2E-2899-1FC945CB1B9A}"/>
              </a:ext>
            </a:extLst>
          </p:cNvPr>
          <p:cNvPicPr>
            <a:picLocks noChangeAspect="1"/>
          </p:cNvPicPr>
          <p:nvPr/>
        </p:nvPicPr>
        <p:blipFill>
          <a:blip r:embed="rId3"/>
          <a:stretch>
            <a:fillRect/>
          </a:stretch>
        </p:blipFill>
        <p:spPr>
          <a:xfrm>
            <a:off x="353330" y="3964793"/>
            <a:ext cx="3108960" cy="1834423"/>
          </a:xfrm>
          <a:prstGeom prst="rect">
            <a:avLst/>
          </a:prstGeom>
        </p:spPr>
      </p:pic>
      <p:sp>
        <p:nvSpPr>
          <p:cNvPr id="8" name="文本框 7">
            <a:extLst>
              <a:ext uri="{FF2B5EF4-FFF2-40B4-BE49-F238E27FC236}">
                <a16:creationId xmlns:a16="http://schemas.microsoft.com/office/drawing/2014/main" id="{8AC757BD-B94E-3904-5FD5-F49E814F6E54}"/>
              </a:ext>
            </a:extLst>
          </p:cNvPr>
          <p:cNvSpPr txBox="1"/>
          <p:nvPr/>
        </p:nvSpPr>
        <p:spPr>
          <a:xfrm>
            <a:off x="4297415" y="2266951"/>
            <a:ext cx="4204138" cy="1126462"/>
          </a:xfrm>
          <a:prstGeom prst="rect">
            <a:avLst/>
          </a:prstGeom>
          <a:noFill/>
        </p:spPr>
        <p:txBody>
          <a:bodyPr wrap="square" rtlCol="0">
            <a:spAutoFit/>
          </a:bodyPr>
          <a:lstStyle/>
          <a:p>
            <a:r>
              <a:rPr lang="en-US" altLang="zh-CN" sz="960" dirty="0"/>
              <a:t>Globally, </a:t>
            </a:r>
            <a:r>
              <a:rPr lang="de-DE" altLang="zh-CN" sz="960" dirty="0" err="1"/>
              <a:t>the</a:t>
            </a:r>
            <a:r>
              <a:rPr lang="de-DE" altLang="zh-CN" sz="960" dirty="0"/>
              <a:t> milk </a:t>
            </a:r>
            <a:r>
              <a:rPr lang="de-DE" altLang="zh-CN" sz="960" dirty="0" err="1"/>
              <a:t>substitute</a:t>
            </a:r>
            <a:r>
              <a:rPr lang="de-DE" altLang="zh-CN" sz="960" dirty="0"/>
              <a:t> </a:t>
            </a:r>
            <a:r>
              <a:rPr lang="de-DE" altLang="zh-CN" sz="960" dirty="0" err="1"/>
              <a:t>market</a:t>
            </a:r>
            <a:r>
              <a:rPr lang="de-DE" altLang="zh-CN" sz="960" dirty="0"/>
              <a:t> </a:t>
            </a:r>
            <a:r>
              <a:rPr lang="de-DE" altLang="zh-CN" sz="960" dirty="0" err="1"/>
              <a:t>is</a:t>
            </a:r>
            <a:r>
              <a:rPr lang="de-DE" altLang="zh-CN" sz="960" dirty="0"/>
              <a:t> </a:t>
            </a:r>
            <a:r>
              <a:rPr lang="de-DE" altLang="zh-CN" sz="960" dirty="0" err="1"/>
              <a:t>steadily</a:t>
            </a:r>
            <a:r>
              <a:rPr lang="de-DE" altLang="zh-CN" sz="960" dirty="0"/>
              <a:t> </a:t>
            </a:r>
            <a:r>
              <a:rPr lang="de-DE" altLang="zh-CN" sz="960" dirty="0" err="1"/>
              <a:t>growing</a:t>
            </a:r>
            <a:r>
              <a:rPr lang="de-DE" altLang="zh-CN" sz="960" dirty="0"/>
              <a:t>, </a:t>
            </a:r>
            <a:r>
              <a:rPr lang="de-DE" altLang="zh-CN" sz="960" dirty="0" err="1"/>
              <a:t>driven</a:t>
            </a:r>
            <a:r>
              <a:rPr lang="de-DE" altLang="zh-CN" sz="960" dirty="0"/>
              <a:t> </a:t>
            </a:r>
            <a:r>
              <a:rPr lang="de-DE" altLang="zh-CN" sz="960" dirty="0" err="1"/>
              <a:t>by</a:t>
            </a:r>
            <a:r>
              <a:rPr lang="de-DE" altLang="zh-CN" sz="960" dirty="0"/>
              <a:t> </a:t>
            </a:r>
            <a:r>
              <a:rPr lang="de-DE" altLang="zh-CN" sz="960" dirty="0" err="1"/>
              <a:t>rising</a:t>
            </a:r>
            <a:r>
              <a:rPr lang="de-DE" altLang="zh-CN" sz="960" dirty="0"/>
              <a:t> </a:t>
            </a:r>
            <a:r>
              <a:rPr lang="de-DE" altLang="zh-CN" sz="960" dirty="0" err="1"/>
              <a:t>demand</a:t>
            </a:r>
            <a:r>
              <a:rPr lang="de-DE" altLang="zh-CN" sz="960" dirty="0"/>
              <a:t> </a:t>
            </a:r>
            <a:r>
              <a:rPr lang="de-DE" altLang="zh-CN" sz="960" dirty="0" err="1"/>
              <a:t>for</a:t>
            </a:r>
            <a:r>
              <a:rPr lang="de-DE" altLang="zh-CN" sz="960" dirty="0"/>
              <a:t> plant-</a:t>
            </a:r>
            <a:r>
              <a:rPr lang="de-DE" altLang="zh-CN" sz="960" dirty="0" err="1"/>
              <a:t>based</a:t>
            </a:r>
            <a:r>
              <a:rPr lang="de-DE" altLang="zh-CN" sz="960" dirty="0"/>
              <a:t> and </a:t>
            </a:r>
            <a:r>
              <a:rPr lang="de-DE" altLang="zh-CN" sz="960" dirty="0" err="1"/>
              <a:t>dairy-free</a:t>
            </a:r>
            <a:r>
              <a:rPr lang="de-DE" altLang="zh-CN" sz="960" dirty="0"/>
              <a:t> alternatives. </a:t>
            </a:r>
            <a:r>
              <a:rPr lang="de-DE" altLang="zh-CN" sz="960" b="1" dirty="0" err="1"/>
              <a:t>Sustained</a:t>
            </a:r>
            <a:r>
              <a:rPr lang="de-DE" altLang="zh-CN" sz="960" b="1" dirty="0"/>
              <a:t> high </a:t>
            </a:r>
            <a:r>
              <a:rPr lang="de-DE" altLang="zh-CN" sz="960" b="1" dirty="0" err="1"/>
              <a:t>growth</a:t>
            </a:r>
            <a:r>
              <a:rPr lang="de-DE" altLang="zh-CN" sz="960" b="1" dirty="0"/>
              <a:t> </a:t>
            </a:r>
            <a:r>
              <a:rPr lang="de-DE" altLang="zh-CN" sz="960" dirty="0" err="1"/>
              <a:t>rates</a:t>
            </a:r>
            <a:r>
              <a:rPr lang="de-DE" altLang="zh-CN" sz="960" dirty="0"/>
              <a:t> </a:t>
            </a:r>
            <a:r>
              <a:rPr lang="de-DE" altLang="zh-CN" sz="960" dirty="0" err="1"/>
              <a:t>indicate</a:t>
            </a:r>
            <a:r>
              <a:rPr lang="de-DE" altLang="zh-CN" sz="960" dirty="0"/>
              <a:t> </a:t>
            </a:r>
            <a:r>
              <a:rPr lang="de-DE" altLang="zh-CN" sz="960" dirty="0" err="1"/>
              <a:t>the</a:t>
            </a:r>
            <a:r>
              <a:rPr lang="de-DE" altLang="zh-CN" sz="960" dirty="0"/>
              <a:t> </a:t>
            </a:r>
            <a:r>
              <a:rPr lang="de-DE" altLang="zh-CN" sz="960" dirty="0" err="1"/>
              <a:t>market</a:t>
            </a:r>
            <a:r>
              <a:rPr lang="de-DE" altLang="zh-CN" sz="960" dirty="0"/>
              <a:t> </a:t>
            </a:r>
            <a:r>
              <a:rPr lang="de-DE" altLang="zh-CN" sz="960" dirty="0" err="1"/>
              <a:t>is</a:t>
            </a:r>
            <a:r>
              <a:rPr lang="de-DE" altLang="zh-CN" sz="960" dirty="0"/>
              <a:t> </a:t>
            </a:r>
            <a:r>
              <a:rPr lang="de-DE" altLang="zh-CN" sz="960" dirty="0" err="1"/>
              <a:t>far</a:t>
            </a:r>
            <a:r>
              <a:rPr lang="de-DE" altLang="zh-CN" sz="960" dirty="0"/>
              <a:t> </a:t>
            </a:r>
            <a:r>
              <a:rPr lang="de-DE" altLang="zh-CN" sz="960" dirty="0" err="1"/>
              <a:t>from</a:t>
            </a:r>
            <a:r>
              <a:rPr lang="de-DE" altLang="zh-CN" sz="960" dirty="0"/>
              <a:t> </a:t>
            </a:r>
            <a:r>
              <a:rPr lang="de-DE" altLang="zh-CN" sz="960" dirty="0" err="1"/>
              <a:t>saturation</a:t>
            </a:r>
            <a:r>
              <a:rPr lang="de-DE" altLang="zh-CN" sz="960" dirty="0"/>
              <a:t>, </a:t>
            </a:r>
            <a:r>
              <a:rPr lang="de-DE" altLang="zh-CN" sz="960" dirty="0" err="1"/>
              <a:t>offering</a:t>
            </a:r>
            <a:r>
              <a:rPr lang="de-DE" altLang="zh-CN" sz="960" dirty="0"/>
              <a:t> </a:t>
            </a:r>
            <a:r>
              <a:rPr lang="de-DE" altLang="zh-CN" sz="960" dirty="0" err="1"/>
              <a:t>opportunities</a:t>
            </a:r>
            <a:r>
              <a:rPr lang="de-DE" altLang="zh-CN" sz="960" dirty="0"/>
              <a:t> </a:t>
            </a:r>
            <a:r>
              <a:rPr lang="de-DE" altLang="zh-CN" sz="960" dirty="0" err="1"/>
              <a:t>for</a:t>
            </a:r>
            <a:r>
              <a:rPr lang="de-DE" altLang="zh-CN" sz="960" dirty="0"/>
              <a:t> </a:t>
            </a:r>
            <a:r>
              <a:rPr lang="de-DE" altLang="zh-CN" sz="960" dirty="0" err="1"/>
              <a:t>investment</a:t>
            </a:r>
            <a:r>
              <a:rPr lang="de-DE" altLang="zh-CN" sz="960" dirty="0"/>
              <a:t> and </a:t>
            </a:r>
            <a:r>
              <a:rPr lang="de-DE" altLang="zh-CN" sz="960" dirty="0" err="1"/>
              <a:t>innovation</a:t>
            </a:r>
            <a:r>
              <a:rPr lang="de-DE" altLang="zh-CN" sz="960" dirty="0"/>
              <a:t>. </a:t>
            </a:r>
            <a:r>
              <a:rPr lang="de-DE" altLang="zh-CN" sz="960" b="1" dirty="0"/>
              <a:t>Expansion potential </a:t>
            </a:r>
            <a:r>
              <a:rPr lang="de-DE" altLang="zh-CN" sz="960" dirty="0" err="1"/>
              <a:t>is</a:t>
            </a:r>
            <a:r>
              <a:rPr lang="de-DE" altLang="zh-CN" sz="960" dirty="0"/>
              <a:t> </a:t>
            </a:r>
            <a:r>
              <a:rPr lang="de-DE" altLang="zh-CN" sz="960" dirty="0" err="1"/>
              <a:t>particularly</a:t>
            </a:r>
            <a:r>
              <a:rPr lang="de-DE" altLang="zh-CN" sz="960" dirty="0"/>
              <a:t> strong in </a:t>
            </a:r>
            <a:r>
              <a:rPr lang="de-DE" altLang="zh-CN" sz="960" dirty="0" err="1"/>
              <a:t>emerging</a:t>
            </a:r>
            <a:r>
              <a:rPr lang="de-DE" altLang="zh-CN" sz="960" dirty="0"/>
              <a:t> </a:t>
            </a:r>
            <a:r>
              <a:rPr lang="de-DE" altLang="zh-CN" sz="960" dirty="0" err="1"/>
              <a:t>markets</a:t>
            </a:r>
            <a:r>
              <a:rPr lang="de-DE" altLang="zh-CN" sz="960" dirty="0"/>
              <a:t> </a:t>
            </a:r>
            <a:r>
              <a:rPr lang="de-DE" altLang="zh-CN" sz="960" dirty="0" err="1"/>
              <a:t>where</a:t>
            </a:r>
            <a:r>
              <a:rPr lang="de-DE" altLang="zh-CN" sz="960" dirty="0"/>
              <a:t> plant-</a:t>
            </a:r>
            <a:r>
              <a:rPr lang="de-DE" altLang="zh-CN" sz="960" dirty="0" err="1"/>
              <a:t>based</a:t>
            </a:r>
            <a:r>
              <a:rPr lang="de-DE" altLang="zh-CN" sz="960" dirty="0"/>
              <a:t> </a:t>
            </a:r>
            <a:r>
              <a:rPr lang="de-DE" altLang="zh-CN" sz="960" dirty="0" err="1"/>
              <a:t>diets</a:t>
            </a:r>
            <a:r>
              <a:rPr lang="de-DE" altLang="zh-CN" sz="960" dirty="0"/>
              <a:t> </a:t>
            </a:r>
            <a:r>
              <a:rPr lang="de-DE" altLang="zh-CN" sz="960" dirty="0" err="1"/>
              <a:t>are</a:t>
            </a:r>
            <a:r>
              <a:rPr lang="de-DE" altLang="zh-CN" sz="960" dirty="0"/>
              <a:t> on </a:t>
            </a:r>
            <a:r>
              <a:rPr lang="de-DE" altLang="zh-CN" sz="960" dirty="0" err="1"/>
              <a:t>the</a:t>
            </a:r>
            <a:r>
              <a:rPr lang="de-DE" altLang="zh-CN" sz="960" dirty="0"/>
              <a:t> </a:t>
            </a:r>
            <a:r>
              <a:rPr lang="de-DE" altLang="zh-CN" sz="960" dirty="0" err="1"/>
              <a:t>rise</a:t>
            </a:r>
            <a:r>
              <a:rPr lang="de-DE" altLang="zh-CN" sz="960" dirty="0"/>
              <a:t>. Companies </a:t>
            </a:r>
            <a:r>
              <a:rPr lang="de-DE" altLang="zh-CN" sz="960" dirty="0" err="1"/>
              <a:t>should</a:t>
            </a:r>
            <a:r>
              <a:rPr lang="de-DE" altLang="zh-CN" sz="960" dirty="0"/>
              <a:t> </a:t>
            </a:r>
            <a:r>
              <a:rPr lang="de-DE" altLang="zh-CN" sz="960" dirty="0" err="1"/>
              <a:t>focus</a:t>
            </a:r>
            <a:r>
              <a:rPr lang="de-DE" altLang="zh-CN" sz="960" dirty="0"/>
              <a:t> on </a:t>
            </a:r>
            <a:r>
              <a:rPr lang="de-DE" altLang="zh-CN" sz="960" dirty="0" err="1"/>
              <a:t>innovation</a:t>
            </a:r>
            <a:r>
              <a:rPr lang="de-DE" altLang="zh-CN" sz="960" dirty="0"/>
              <a:t> and </a:t>
            </a:r>
            <a:r>
              <a:rPr lang="de-DE" altLang="zh-CN" sz="960" dirty="0" err="1"/>
              <a:t>geographical</a:t>
            </a:r>
            <a:r>
              <a:rPr lang="de-DE" altLang="zh-CN" sz="960" dirty="0"/>
              <a:t> </a:t>
            </a:r>
            <a:r>
              <a:rPr lang="de-DE" altLang="zh-CN" sz="960" dirty="0" err="1"/>
              <a:t>expansion</a:t>
            </a:r>
            <a:r>
              <a:rPr lang="de-DE" altLang="zh-CN" sz="960" dirty="0"/>
              <a:t> </a:t>
            </a:r>
            <a:r>
              <a:rPr lang="de-DE" altLang="zh-CN" sz="960" dirty="0" err="1"/>
              <a:t>to</a:t>
            </a:r>
            <a:r>
              <a:rPr lang="de-DE" altLang="zh-CN" sz="960" dirty="0"/>
              <a:t> </a:t>
            </a:r>
            <a:r>
              <a:rPr lang="de-DE" altLang="zh-CN" sz="960" dirty="0" err="1"/>
              <a:t>seize</a:t>
            </a:r>
            <a:r>
              <a:rPr lang="de-DE" altLang="zh-CN" sz="960" dirty="0"/>
              <a:t> </a:t>
            </a:r>
            <a:r>
              <a:rPr lang="de-DE" altLang="zh-CN" sz="960" dirty="0" err="1"/>
              <a:t>these</a:t>
            </a:r>
            <a:r>
              <a:rPr lang="de-DE" altLang="zh-CN" sz="960" dirty="0"/>
              <a:t> </a:t>
            </a:r>
            <a:r>
              <a:rPr lang="de-DE" altLang="zh-CN" sz="960" dirty="0" err="1"/>
              <a:t>opportunities</a:t>
            </a:r>
            <a:r>
              <a:rPr lang="de-DE" altLang="zh-CN" sz="960" dirty="0"/>
              <a:t>.</a:t>
            </a:r>
          </a:p>
          <a:p>
            <a:endParaRPr kumimoji="1" lang="zh-CN" altLang="en-US" sz="960" dirty="0"/>
          </a:p>
        </p:txBody>
      </p:sp>
      <p:sp>
        <p:nvSpPr>
          <p:cNvPr id="10" name="文本框 9">
            <a:extLst>
              <a:ext uri="{FF2B5EF4-FFF2-40B4-BE49-F238E27FC236}">
                <a16:creationId xmlns:a16="http://schemas.microsoft.com/office/drawing/2014/main" id="{534A9CB6-FBE2-B61C-3BEE-483C45A27A65}"/>
              </a:ext>
            </a:extLst>
          </p:cNvPr>
          <p:cNvSpPr txBox="1"/>
          <p:nvPr/>
        </p:nvSpPr>
        <p:spPr>
          <a:xfrm>
            <a:off x="4297415" y="4018936"/>
            <a:ext cx="2210590" cy="2121606"/>
          </a:xfrm>
          <a:prstGeom prst="rect">
            <a:avLst/>
          </a:prstGeom>
          <a:noFill/>
        </p:spPr>
        <p:txBody>
          <a:bodyPr wrap="square">
            <a:spAutoFit/>
          </a:bodyPr>
          <a:lstStyle/>
          <a:p>
            <a:pPr>
              <a:spcBef>
                <a:spcPts val="480"/>
              </a:spcBef>
              <a:spcAft>
                <a:spcPts val="480"/>
              </a:spcAft>
              <a:buFont typeface="Arial" panose="020B0604020202020204" pitchFamily="34" charset="0"/>
              <a:buChar char="•"/>
            </a:pPr>
            <a:r>
              <a:rPr lang="de-DE" altLang="zh-CN" sz="960" dirty="0">
                <a:solidFill>
                  <a:srgbClr val="262626"/>
                </a:solidFill>
                <a:latin typeface="-apple-system"/>
              </a:rPr>
              <a:t>Emerging </a:t>
            </a:r>
            <a:r>
              <a:rPr lang="de-DE" altLang="zh-CN" sz="960" dirty="0" err="1">
                <a:solidFill>
                  <a:srgbClr val="262626"/>
                </a:solidFill>
                <a:latin typeface="-apple-system"/>
              </a:rPr>
              <a:t>markets</a:t>
            </a:r>
            <a:r>
              <a:rPr lang="de-DE" altLang="zh-CN" sz="960" dirty="0">
                <a:solidFill>
                  <a:srgbClr val="262626"/>
                </a:solidFill>
                <a:latin typeface="-apple-system"/>
              </a:rPr>
              <a:t> (e.g., Brazil) </a:t>
            </a:r>
            <a:r>
              <a:rPr lang="de-DE" altLang="zh-CN" sz="960" dirty="0" err="1">
                <a:solidFill>
                  <a:srgbClr val="262626"/>
                </a:solidFill>
                <a:latin typeface="-apple-system"/>
              </a:rPr>
              <a:t>are</a:t>
            </a:r>
            <a:r>
              <a:rPr lang="de-DE" altLang="zh-CN" sz="960" dirty="0">
                <a:solidFill>
                  <a:srgbClr val="262626"/>
                </a:solidFill>
                <a:latin typeface="-apple-system"/>
              </a:rPr>
              <a:t> </a:t>
            </a:r>
            <a:r>
              <a:rPr lang="de-DE" altLang="zh-CN" sz="960" dirty="0" err="1">
                <a:solidFill>
                  <a:srgbClr val="262626"/>
                </a:solidFill>
                <a:latin typeface="-apple-system"/>
              </a:rPr>
              <a:t>growing</a:t>
            </a:r>
            <a:r>
              <a:rPr lang="de-DE" altLang="zh-CN" sz="960" dirty="0">
                <a:solidFill>
                  <a:srgbClr val="262626"/>
                </a:solidFill>
                <a:latin typeface="-apple-system"/>
              </a:rPr>
              <a:t> </a:t>
            </a:r>
            <a:r>
              <a:rPr lang="de-DE" altLang="zh-CN" sz="960" dirty="0" err="1">
                <a:solidFill>
                  <a:srgbClr val="262626"/>
                </a:solidFill>
                <a:latin typeface="-apple-system"/>
              </a:rPr>
              <a:t>rapidly</a:t>
            </a:r>
            <a:r>
              <a:rPr lang="de-DE" altLang="zh-CN" sz="960" dirty="0">
                <a:solidFill>
                  <a:srgbClr val="262626"/>
                </a:solidFill>
                <a:latin typeface="-apple-system"/>
              </a:rPr>
              <a:t>, </a:t>
            </a:r>
            <a:r>
              <a:rPr lang="de-DE" altLang="zh-CN" sz="960" dirty="0" err="1">
                <a:solidFill>
                  <a:srgbClr val="262626"/>
                </a:solidFill>
                <a:latin typeface="-apple-system"/>
              </a:rPr>
              <a:t>with</a:t>
            </a:r>
            <a:r>
              <a:rPr lang="de-DE" altLang="zh-CN" sz="960" dirty="0">
                <a:solidFill>
                  <a:srgbClr val="262626"/>
                </a:solidFill>
                <a:latin typeface="-apple-system"/>
              </a:rPr>
              <a:t> </a:t>
            </a:r>
            <a:r>
              <a:rPr lang="de-DE" altLang="zh-CN" sz="960" dirty="0" err="1">
                <a:solidFill>
                  <a:srgbClr val="262626"/>
                </a:solidFill>
                <a:latin typeface="-apple-system"/>
              </a:rPr>
              <a:t>consumer</a:t>
            </a:r>
            <a:r>
              <a:rPr lang="de-DE" altLang="zh-CN" sz="960" dirty="0">
                <a:solidFill>
                  <a:srgbClr val="262626"/>
                </a:solidFill>
                <a:latin typeface="-apple-system"/>
              </a:rPr>
              <a:t> </a:t>
            </a:r>
            <a:r>
              <a:rPr lang="de-DE" altLang="zh-CN" sz="960" dirty="0" err="1">
                <a:solidFill>
                  <a:srgbClr val="262626"/>
                </a:solidFill>
                <a:latin typeface="-apple-system"/>
              </a:rPr>
              <a:t>demand</a:t>
            </a:r>
            <a:r>
              <a:rPr lang="de-DE" altLang="zh-CN" sz="960" dirty="0">
                <a:solidFill>
                  <a:srgbClr val="262626"/>
                </a:solidFill>
                <a:latin typeface="-apple-system"/>
              </a:rPr>
              <a:t> </a:t>
            </a:r>
            <a:r>
              <a:rPr lang="de-DE" altLang="zh-CN" sz="960" dirty="0" err="1">
                <a:solidFill>
                  <a:srgbClr val="262626"/>
                </a:solidFill>
                <a:latin typeface="-apple-system"/>
              </a:rPr>
              <a:t>focused</a:t>
            </a:r>
            <a:r>
              <a:rPr lang="de-DE" altLang="zh-CN" sz="960" dirty="0">
                <a:solidFill>
                  <a:srgbClr val="262626"/>
                </a:solidFill>
                <a:latin typeface="-apple-system"/>
              </a:rPr>
              <a:t> on </a:t>
            </a:r>
            <a:r>
              <a:rPr lang="de-DE" altLang="zh-CN" sz="960" dirty="0" err="1">
                <a:solidFill>
                  <a:srgbClr val="262626"/>
                </a:solidFill>
                <a:latin typeface="-apple-system"/>
              </a:rPr>
              <a:t>health</a:t>
            </a:r>
            <a:r>
              <a:rPr lang="de-DE" altLang="zh-CN" sz="960" dirty="0">
                <a:solidFill>
                  <a:srgbClr val="262626"/>
                </a:solidFill>
                <a:latin typeface="-apple-system"/>
              </a:rPr>
              <a:t> and </a:t>
            </a:r>
            <a:r>
              <a:rPr lang="de-DE" altLang="zh-CN" sz="960" dirty="0" err="1">
                <a:solidFill>
                  <a:srgbClr val="262626"/>
                </a:solidFill>
                <a:latin typeface="-apple-system"/>
              </a:rPr>
              <a:t>affordable</a:t>
            </a:r>
            <a:r>
              <a:rPr lang="de-DE" altLang="zh-CN" sz="960" dirty="0">
                <a:solidFill>
                  <a:srgbClr val="262626"/>
                </a:solidFill>
                <a:latin typeface="-apple-system"/>
              </a:rPr>
              <a:t> </a:t>
            </a:r>
            <a:r>
              <a:rPr lang="de-DE" altLang="zh-CN" sz="960" dirty="0" err="1">
                <a:solidFill>
                  <a:srgbClr val="262626"/>
                </a:solidFill>
                <a:latin typeface="-apple-system"/>
              </a:rPr>
              <a:t>products</a:t>
            </a:r>
            <a:r>
              <a:rPr lang="de-DE" altLang="zh-CN" sz="960" dirty="0">
                <a:solidFill>
                  <a:srgbClr val="262626"/>
                </a:solidFill>
                <a:latin typeface="-apple-system"/>
              </a:rPr>
              <a:t>.</a:t>
            </a:r>
          </a:p>
          <a:p>
            <a:pPr>
              <a:spcBef>
                <a:spcPts val="480"/>
              </a:spcBef>
              <a:spcAft>
                <a:spcPts val="480"/>
              </a:spcAft>
              <a:buFont typeface="Arial" panose="020B0604020202020204" pitchFamily="34" charset="0"/>
              <a:buChar char="•"/>
            </a:pPr>
            <a:r>
              <a:rPr lang="de-DE" altLang="zh-CN" sz="960" dirty="0" err="1">
                <a:solidFill>
                  <a:srgbClr val="262626"/>
                </a:solidFill>
                <a:latin typeface="-apple-system"/>
              </a:rPr>
              <a:t>Developed</a:t>
            </a:r>
            <a:r>
              <a:rPr lang="de-DE" altLang="zh-CN" sz="960" dirty="0">
                <a:solidFill>
                  <a:srgbClr val="262626"/>
                </a:solidFill>
                <a:latin typeface="-apple-system"/>
              </a:rPr>
              <a:t> </a:t>
            </a:r>
            <a:r>
              <a:rPr lang="de-DE" altLang="zh-CN" sz="960" dirty="0" err="1">
                <a:solidFill>
                  <a:srgbClr val="262626"/>
                </a:solidFill>
                <a:latin typeface="-apple-system"/>
              </a:rPr>
              <a:t>markets</a:t>
            </a:r>
            <a:r>
              <a:rPr lang="de-DE" altLang="zh-CN" sz="960" dirty="0">
                <a:solidFill>
                  <a:srgbClr val="262626"/>
                </a:solidFill>
                <a:latin typeface="-apple-system"/>
              </a:rPr>
              <a:t> (e.g., North </a:t>
            </a:r>
            <a:r>
              <a:rPr lang="de-DE" altLang="zh-CN" sz="960" dirty="0" err="1">
                <a:solidFill>
                  <a:srgbClr val="262626"/>
                </a:solidFill>
                <a:latin typeface="-apple-system"/>
              </a:rPr>
              <a:t>America</a:t>
            </a:r>
            <a:r>
              <a:rPr lang="de-DE" altLang="zh-CN" sz="960" dirty="0">
                <a:solidFill>
                  <a:srgbClr val="262626"/>
                </a:solidFill>
                <a:latin typeface="-apple-system"/>
              </a:rPr>
              <a:t>, Europe) </a:t>
            </a:r>
            <a:r>
              <a:rPr lang="de-DE" altLang="zh-CN" sz="960" dirty="0" err="1">
                <a:solidFill>
                  <a:srgbClr val="262626"/>
                </a:solidFill>
                <a:latin typeface="-apple-system"/>
              </a:rPr>
              <a:t>are</a:t>
            </a:r>
            <a:r>
              <a:rPr lang="de-DE" altLang="zh-CN" sz="960" dirty="0">
                <a:solidFill>
                  <a:srgbClr val="262626"/>
                </a:solidFill>
                <a:latin typeface="-apple-system"/>
              </a:rPr>
              <a:t> </a:t>
            </a:r>
            <a:r>
              <a:rPr lang="de-DE" altLang="zh-CN" sz="960" dirty="0" err="1">
                <a:solidFill>
                  <a:srgbClr val="262626"/>
                </a:solidFill>
                <a:latin typeface="-apple-system"/>
              </a:rPr>
              <a:t>maturing</a:t>
            </a:r>
            <a:r>
              <a:rPr lang="de-DE" altLang="zh-CN" sz="960" dirty="0">
                <a:solidFill>
                  <a:srgbClr val="262626"/>
                </a:solidFill>
                <a:latin typeface="-apple-system"/>
              </a:rPr>
              <a:t>, </a:t>
            </a:r>
            <a:r>
              <a:rPr lang="de-DE" altLang="zh-CN" sz="960" dirty="0" err="1">
                <a:solidFill>
                  <a:srgbClr val="262626"/>
                </a:solidFill>
                <a:latin typeface="-apple-system"/>
              </a:rPr>
              <a:t>with</a:t>
            </a:r>
            <a:r>
              <a:rPr lang="de-DE" altLang="zh-CN" sz="960" dirty="0">
                <a:solidFill>
                  <a:srgbClr val="262626"/>
                </a:solidFill>
                <a:latin typeface="-apple-system"/>
              </a:rPr>
              <a:t> </a:t>
            </a:r>
            <a:r>
              <a:rPr lang="de-DE" altLang="zh-CN" sz="960" dirty="0" err="1">
                <a:solidFill>
                  <a:srgbClr val="262626"/>
                </a:solidFill>
                <a:latin typeface="-apple-system"/>
              </a:rPr>
              <a:t>functional</a:t>
            </a:r>
            <a:r>
              <a:rPr lang="de-DE" altLang="zh-CN" sz="960" dirty="0">
                <a:solidFill>
                  <a:srgbClr val="262626"/>
                </a:solidFill>
                <a:latin typeface="-apple-system"/>
              </a:rPr>
              <a:t> and premium </a:t>
            </a:r>
            <a:r>
              <a:rPr lang="de-DE" altLang="zh-CN" sz="960" dirty="0" err="1">
                <a:solidFill>
                  <a:srgbClr val="262626"/>
                </a:solidFill>
                <a:latin typeface="-apple-system"/>
              </a:rPr>
              <a:t>products</a:t>
            </a:r>
            <a:r>
              <a:rPr lang="de-DE" altLang="zh-CN" sz="960" dirty="0">
                <a:solidFill>
                  <a:srgbClr val="262626"/>
                </a:solidFill>
                <a:latin typeface="-apple-system"/>
              </a:rPr>
              <a:t> </a:t>
            </a:r>
            <a:r>
              <a:rPr lang="de-DE" altLang="zh-CN" sz="960" dirty="0" err="1">
                <a:solidFill>
                  <a:srgbClr val="262626"/>
                </a:solidFill>
                <a:latin typeface="-apple-system"/>
              </a:rPr>
              <a:t>being</a:t>
            </a:r>
            <a:r>
              <a:rPr lang="de-DE" altLang="zh-CN" sz="960" dirty="0">
                <a:solidFill>
                  <a:srgbClr val="262626"/>
                </a:solidFill>
                <a:latin typeface="-apple-system"/>
              </a:rPr>
              <a:t> </a:t>
            </a:r>
            <a:r>
              <a:rPr lang="de-DE" altLang="zh-CN" sz="960" dirty="0" err="1">
                <a:solidFill>
                  <a:srgbClr val="262626"/>
                </a:solidFill>
                <a:latin typeface="-apple-system"/>
              </a:rPr>
              <a:t>the</a:t>
            </a:r>
            <a:r>
              <a:rPr lang="de-DE" altLang="zh-CN" sz="960" dirty="0">
                <a:solidFill>
                  <a:srgbClr val="262626"/>
                </a:solidFill>
                <a:latin typeface="-apple-system"/>
              </a:rPr>
              <a:t> </a:t>
            </a:r>
            <a:r>
              <a:rPr lang="de-DE" altLang="zh-CN" sz="960" dirty="0" err="1">
                <a:solidFill>
                  <a:srgbClr val="262626"/>
                </a:solidFill>
                <a:latin typeface="-apple-system"/>
              </a:rPr>
              <a:t>main</a:t>
            </a:r>
            <a:r>
              <a:rPr lang="de-DE" altLang="zh-CN" sz="960" dirty="0">
                <a:solidFill>
                  <a:srgbClr val="262626"/>
                </a:solidFill>
                <a:latin typeface="-apple-system"/>
              </a:rPr>
              <a:t> </a:t>
            </a:r>
            <a:r>
              <a:rPr lang="de-DE" altLang="zh-CN" sz="960" dirty="0" err="1">
                <a:solidFill>
                  <a:srgbClr val="262626"/>
                </a:solidFill>
                <a:latin typeface="-apple-system"/>
              </a:rPr>
              <a:t>drivers</a:t>
            </a:r>
            <a:r>
              <a:rPr lang="de-DE" altLang="zh-CN" sz="960" dirty="0">
                <a:solidFill>
                  <a:srgbClr val="262626"/>
                </a:solidFill>
                <a:latin typeface="-apple-system"/>
              </a:rPr>
              <a:t>.</a:t>
            </a:r>
          </a:p>
          <a:p>
            <a:pPr>
              <a:spcBef>
                <a:spcPts val="480"/>
              </a:spcBef>
              <a:spcAft>
                <a:spcPts val="480"/>
              </a:spcAft>
              <a:buFont typeface="Arial" panose="020B0604020202020204" pitchFamily="34" charset="0"/>
              <a:buChar char="•"/>
            </a:pPr>
            <a:r>
              <a:rPr lang="de-DE" altLang="zh-CN" sz="960" dirty="0">
                <a:solidFill>
                  <a:srgbClr val="262626"/>
                </a:solidFill>
                <a:latin typeface="-apple-system"/>
              </a:rPr>
              <a:t>The Chinese </a:t>
            </a:r>
            <a:r>
              <a:rPr lang="de-DE" altLang="zh-CN" sz="960" dirty="0" err="1">
                <a:solidFill>
                  <a:srgbClr val="262626"/>
                </a:solidFill>
                <a:latin typeface="-apple-system"/>
              </a:rPr>
              <a:t>market</a:t>
            </a:r>
            <a:r>
              <a:rPr lang="de-DE" altLang="zh-CN" sz="960" dirty="0">
                <a:solidFill>
                  <a:srgbClr val="262626"/>
                </a:solidFill>
                <a:latin typeface="-apple-system"/>
              </a:rPr>
              <a:t> </a:t>
            </a:r>
            <a:r>
              <a:rPr lang="de-DE" altLang="zh-CN" sz="960" dirty="0" err="1">
                <a:solidFill>
                  <a:srgbClr val="262626"/>
                </a:solidFill>
                <a:latin typeface="-apple-system"/>
              </a:rPr>
              <a:t>faces</a:t>
            </a:r>
            <a:r>
              <a:rPr lang="de-DE" altLang="zh-CN" sz="960" dirty="0">
                <a:solidFill>
                  <a:srgbClr val="262626"/>
                </a:solidFill>
                <a:latin typeface="-apple-system"/>
              </a:rPr>
              <a:t> </a:t>
            </a:r>
            <a:r>
              <a:rPr lang="de-DE" altLang="zh-CN" sz="960" dirty="0" err="1">
                <a:solidFill>
                  <a:srgbClr val="262626"/>
                </a:solidFill>
                <a:latin typeface="-apple-system"/>
              </a:rPr>
              <a:t>challenges</a:t>
            </a:r>
            <a:r>
              <a:rPr lang="de-DE" altLang="zh-CN" sz="960" dirty="0">
                <a:solidFill>
                  <a:srgbClr val="262626"/>
                </a:solidFill>
                <a:latin typeface="-apple-system"/>
              </a:rPr>
              <a:t>, but innovative </a:t>
            </a:r>
            <a:r>
              <a:rPr lang="de-DE" altLang="zh-CN" sz="960" dirty="0" err="1">
                <a:solidFill>
                  <a:srgbClr val="262626"/>
                </a:solidFill>
                <a:latin typeface="-apple-system"/>
              </a:rPr>
              <a:t>categories</a:t>
            </a:r>
            <a:r>
              <a:rPr lang="de-DE" altLang="zh-CN" sz="960" dirty="0">
                <a:solidFill>
                  <a:srgbClr val="262626"/>
                </a:solidFill>
                <a:latin typeface="-apple-system"/>
              </a:rPr>
              <a:t> like </a:t>
            </a:r>
            <a:r>
              <a:rPr lang="de-DE" altLang="zh-CN" sz="960" dirty="0" err="1">
                <a:solidFill>
                  <a:srgbClr val="262626"/>
                </a:solidFill>
                <a:latin typeface="-apple-system"/>
              </a:rPr>
              <a:t>coconut</a:t>
            </a:r>
            <a:r>
              <a:rPr lang="de-DE" altLang="zh-CN" sz="960" dirty="0">
                <a:solidFill>
                  <a:srgbClr val="262626"/>
                </a:solidFill>
                <a:latin typeface="-apple-system"/>
              </a:rPr>
              <a:t> milk and </a:t>
            </a:r>
            <a:r>
              <a:rPr lang="de-DE" altLang="zh-CN" sz="960" dirty="0" err="1">
                <a:solidFill>
                  <a:srgbClr val="262626"/>
                </a:solidFill>
                <a:latin typeface="-apple-system"/>
              </a:rPr>
              <a:t>functional</a:t>
            </a:r>
            <a:r>
              <a:rPr lang="de-DE" altLang="zh-CN" sz="960" dirty="0">
                <a:solidFill>
                  <a:srgbClr val="262626"/>
                </a:solidFill>
                <a:latin typeface="-apple-system"/>
              </a:rPr>
              <a:t> </a:t>
            </a:r>
            <a:r>
              <a:rPr lang="de-DE" altLang="zh-CN" sz="960" dirty="0" err="1">
                <a:solidFill>
                  <a:srgbClr val="262626"/>
                </a:solidFill>
                <a:latin typeface="-apple-system"/>
              </a:rPr>
              <a:t>soy</a:t>
            </a:r>
            <a:r>
              <a:rPr lang="de-DE" altLang="zh-CN" sz="960" dirty="0">
                <a:solidFill>
                  <a:srgbClr val="262626"/>
                </a:solidFill>
                <a:latin typeface="-apple-system"/>
              </a:rPr>
              <a:t> milk </a:t>
            </a:r>
            <a:r>
              <a:rPr lang="de-DE" altLang="zh-CN" sz="960" dirty="0" err="1">
                <a:solidFill>
                  <a:srgbClr val="262626"/>
                </a:solidFill>
                <a:latin typeface="-apple-system"/>
              </a:rPr>
              <a:t>offer</a:t>
            </a:r>
            <a:r>
              <a:rPr lang="de-DE" altLang="zh-CN" sz="960" dirty="0">
                <a:solidFill>
                  <a:srgbClr val="262626"/>
                </a:solidFill>
                <a:latin typeface="-apple-system"/>
              </a:rPr>
              <a:t> </a:t>
            </a:r>
            <a:r>
              <a:rPr lang="de-DE" altLang="zh-CN" sz="960" dirty="0" err="1">
                <a:solidFill>
                  <a:srgbClr val="262626"/>
                </a:solidFill>
                <a:latin typeface="-apple-system"/>
              </a:rPr>
              <a:t>some</a:t>
            </a:r>
            <a:r>
              <a:rPr lang="de-DE" altLang="zh-CN" sz="960" dirty="0">
                <a:solidFill>
                  <a:srgbClr val="262626"/>
                </a:solidFill>
                <a:latin typeface="-apple-system"/>
              </a:rPr>
              <a:t> </a:t>
            </a:r>
            <a:r>
              <a:rPr lang="de-DE" altLang="zh-CN" sz="960" dirty="0" err="1">
                <a:solidFill>
                  <a:srgbClr val="262626"/>
                </a:solidFill>
                <a:latin typeface="-apple-system"/>
              </a:rPr>
              <a:t>growth</a:t>
            </a:r>
            <a:r>
              <a:rPr lang="de-DE" altLang="zh-CN" sz="960" dirty="0">
                <a:solidFill>
                  <a:srgbClr val="262626"/>
                </a:solidFill>
                <a:latin typeface="-apple-system"/>
              </a:rPr>
              <a:t> </a:t>
            </a:r>
            <a:r>
              <a:rPr lang="de-DE" altLang="zh-CN" sz="960" dirty="0" err="1">
                <a:solidFill>
                  <a:srgbClr val="262626"/>
                </a:solidFill>
                <a:latin typeface="-apple-system"/>
              </a:rPr>
              <a:t>opportunities</a:t>
            </a:r>
            <a:r>
              <a:rPr lang="de-DE" altLang="zh-CN" sz="960" dirty="0">
                <a:solidFill>
                  <a:srgbClr val="262626"/>
                </a:solidFill>
                <a:latin typeface="-apple-system"/>
              </a:rPr>
              <a:t>.</a:t>
            </a:r>
          </a:p>
        </p:txBody>
      </p:sp>
      <p:sp>
        <p:nvSpPr>
          <p:cNvPr id="11" name="文本框 10">
            <a:extLst>
              <a:ext uri="{FF2B5EF4-FFF2-40B4-BE49-F238E27FC236}">
                <a16:creationId xmlns:a16="http://schemas.microsoft.com/office/drawing/2014/main" id="{89824B2B-8695-138E-E327-055DB1049388}"/>
              </a:ext>
            </a:extLst>
          </p:cNvPr>
          <p:cNvSpPr txBox="1"/>
          <p:nvPr/>
        </p:nvSpPr>
        <p:spPr>
          <a:xfrm>
            <a:off x="4297415" y="3623073"/>
            <a:ext cx="4071786" cy="313932"/>
          </a:xfrm>
          <a:prstGeom prst="rect">
            <a:avLst/>
          </a:prstGeom>
          <a:noFill/>
        </p:spPr>
        <p:txBody>
          <a:bodyPr wrap="square" rtlCol="0">
            <a:spAutoFit/>
          </a:bodyPr>
          <a:lstStyle/>
          <a:p>
            <a:r>
              <a:rPr kumimoji="1" lang="en-US" altLang="zh-CN" sz="1440" dirty="0"/>
              <a:t>Regional Difference</a:t>
            </a:r>
            <a:endParaRPr kumimoji="1" lang="zh-CN" altLang="en-US" sz="1440" dirty="0"/>
          </a:p>
        </p:txBody>
      </p:sp>
      <p:sp>
        <p:nvSpPr>
          <p:cNvPr id="12" name="文本框 11">
            <a:extLst>
              <a:ext uri="{FF2B5EF4-FFF2-40B4-BE49-F238E27FC236}">
                <a16:creationId xmlns:a16="http://schemas.microsoft.com/office/drawing/2014/main" id="{F08FE1AC-DF8E-615D-835D-9F2162D04BBD}"/>
              </a:ext>
            </a:extLst>
          </p:cNvPr>
          <p:cNvSpPr txBox="1"/>
          <p:nvPr/>
        </p:nvSpPr>
        <p:spPr>
          <a:xfrm>
            <a:off x="4297415" y="1985893"/>
            <a:ext cx="4071786" cy="313932"/>
          </a:xfrm>
          <a:prstGeom prst="rect">
            <a:avLst/>
          </a:prstGeom>
          <a:noFill/>
        </p:spPr>
        <p:txBody>
          <a:bodyPr wrap="square" rtlCol="0">
            <a:spAutoFit/>
          </a:bodyPr>
          <a:lstStyle/>
          <a:p>
            <a:r>
              <a:rPr kumimoji="1" lang="en-US" altLang="zh-CN" sz="1440" dirty="0"/>
              <a:t>Global</a:t>
            </a:r>
            <a:r>
              <a:rPr kumimoji="1" lang="zh-CN" altLang="en-US" sz="1440" dirty="0"/>
              <a:t> </a:t>
            </a:r>
            <a:r>
              <a:rPr kumimoji="1" lang="en-US" altLang="zh-CN" sz="1440" dirty="0"/>
              <a:t>Trend</a:t>
            </a:r>
            <a:endParaRPr kumimoji="1" lang="zh-CN" altLang="en-US" sz="1440" dirty="0"/>
          </a:p>
        </p:txBody>
      </p:sp>
      <p:pic>
        <p:nvPicPr>
          <p:cNvPr id="14" name="图片 13">
            <a:extLst>
              <a:ext uri="{FF2B5EF4-FFF2-40B4-BE49-F238E27FC236}">
                <a16:creationId xmlns:a16="http://schemas.microsoft.com/office/drawing/2014/main" id="{643C9265-CEF4-32A5-AD2E-8BE0513ABCCA}"/>
              </a:ext>
            </a:extLst>
          </p:cNvPr>
          <p:cNvPicPr>
            <a:picLocks noChangeAspect="1"/>
          </p:cNvPicPr>
          <p:nvPr/>
        </p:nvPicPr>
        <p:blipFill>
          <a:blip r:embed="rId4"/>
          <a:stretch>
            <a:fillRect/>
          </a:stretch>
        </p:blipFill>
        <p:spPr>
          <a:xfrm>
            <a:off x="6617316" y="3918539"/>
            <a:ext cx="2877535" cy="2060458"/>
          </a:xfrm>
          <a:prstGeom prst="rect">
            <a:avLst/>
          </a:prstGeom>
        </p:spPr>
      </p:pic>
    </p:spTree>
    <p:extLst>
      <p:ext uri="{BB962C8B-B14F-4D97-AF65-F5344CB8AC3E}">
        <p14:creationId xmlns:p14="http://schemas.microsoft.com/office/powerpoint/2010/main" val="488228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9C4AAFD7-2A70-4636-AB9B-D7B37FBA65F7}"/>
              </a:ext>
            </a:extLst>
          </p:cNvPr>
          <p:cNvGrpSpPr/>
          <p:nvPr/>
        </p:nvGrpSpPr>
        <p:grpSpPr>
          <a:xfrm>
            <a:off x="630799" y="746984"/>
            <a:ext cx="1562290" cy="2758796"/>
            <a:chOff x="727338" y="1349485"/>
            <a:chExt cx="1952863" cy="3448496"/>
          </a:xfrm>
        </p:grpSpPr>
        <p:sp>
          <p:nvSpPr>
            <p:cNvPr id="4" name="矩形 61">
              <a:extLst>
                <a:ext uri="{FF2B5EF4-FFF2-40B4-BE49-F238E27FC236}">
                  <a16:creationId xmlns:a16="http://schemas.microsoft.com/office/drawing/2014/main" id="{EFE0C775-51D0-4200-824B-FF6B3CD59C74}"/>
                </a:ext>
              </a:extLst>
            </p:cNvPr>
            <p:cNvSpPr/>
            <p:nvPr/>
          </p:nvSpPr>
          <p:spPr>
            <a:xfrm>
              <a:off x="870496" y="2767676"/>
              <a:ext cx="1705987" cy="484748"/>
            </a:xfrm>
            <a:prstGeom prst="rect">
              <a:avLst/>
            </a:prstGeom>
          </p:spPr>
          <p:txBody>
            <a:bodyPr wrap="square">
              <a:spAutoFit/>
            </a:bodyPr>
            <a:lstStyle/>
            <a:p>
              <a:pPr>
                <a:spcAft>
                  <a:spcPts val="960"/>
                </a:spcAft>
              </a:pPr>
              <a:r>
                <a:rPr lang="de-DE" altLang="zh-CN" sz="960" b="1" dirty="0" err="1">
                  <a:solidFill>
                    <a:srgbClr val="262626"/>
                  </a:solidFill>
                  <a:latin typeface="-apple-system"/>
                </a:rPr>
                <a:t>Bargaining</a:t>
              </a:r>
              <a:r>
                <a:rPr lang="de-DE" altLang="zh-CN" sz="960" b="1" dirty="0">
                  <a:solidFill>
                    <a:srgbClr val="262626"/>
                  </a:solidFill>
                  <a:latin typeface="-apple-system"/>
                </a:rPr>
                <a:t> Power </a:t>
              </a:r>
              <a:r>
                <a:rPr lang="de-DE" altLang="zh-CN" sz="960" b="1" dirty="0" err="1">
                  <a:solidFill>
                    <a:srgbClr val="262626"/>
                  </a:solidFill>
                  <a:latin typeface="-apple-system"/>
                </a:rPr>
                <a:t>of</a:t>
              </a:r>
              <a:r>
                <a:rPr lang="de-DE" altLang="zh-CN" sz="960" b="1" dirty="0">
                  <a:solidFill>
                    <a:srgbClr val="262626"/>
                  </a:solidFill>
                  <a:latin typeface="-apple-system"/>
                </a:rPr>
                <a:t> </a:t>
              </a:r>
              <a:r>
                <a:rPr lang="de-DE" altLang="zh-CN" sz="960" b="1" dirty="0" err="1">
                  <a:solidFill>
                    <a:srgbClr val="262626"/>
                  </a:solidFill>
                  <a:latin typeface="-apple-system"/>
                </a:rPr>
                <a:t>Suppliers</a:t>
              </a:r>
              <a:endParaRPr lang="de-DE" altLang="zh-CN" sz="960" b="1" dirty="0">
                <a:solidFill>
                  <a:srgbClr val="262626"/>
                </a:solidFill>
                <a:latin typeface="-apple-system"/>
              </a:endParaRPr>
            </a:p>
          </p:txBody>
        </p:sp>
        <p:sp>
          <p:nvSpPr>
            <p:cNvPr id="23" name="Freeform 182">
              <a:extLst>
                <a:ext uri="{FF2B5EF4-FFF2-40B4-BE49-F238E27FC236}">
                  <a16:creationId xmlns:a16="http://schemas.microsoft.com/office/drawing/2014/main" id="{93015156-5952-462B-93FA-118FBD556B07}"/>
                </a:ext>
              </a:extLst>
            </p:cNvPr>
            <p:cNvSpPr>
              <a:spLocks noChangeArrowheads="1"/>
            </p:cNvSpPr>
            <p:nvPr/>
          </p:nvSpPr>
          <p:spPr bwMode="auto">
            <a:xfrm>
              <a:off x="1506201" y="1349485"/>
              <a:ext cx="433827" cy="433827"/>
            </a:xfrm>
            <a:custGeom>
              <a:avLst/>
              <a:gdLst>
                <a:gd name="T0" fmla="*/ 603 w 634"/>
                <a:gd name="T1" fmla="*/ 14 h 633"/>
                <a:gd name="T2" fmla="*/ 603 w 634"/>
                <a:gd name="T3" fmla="*/ 14 h 633"/>
                <a:gd name="T4" fmla="*/ 0 w 634"/>
                <a:gd name="T5" fmla="*/ 309 h 633"/>
                <a:gd name="T6" fmla="*/ 191 w 634"/>
                <a:gd name="T7" fmla="*/ 427 h 633"/>
                <a:gd name="T8" fmla="*/ 309 w 634"/>
                <a:gd name="T9" fmla="*/ 632 h 633"/>
                <a:gd name="T10" fmla="*/ 618 w 634"/>
                <a:gd name="T11" fmla="*/ 29 h 633"/>
                <a:gd name="T12" fmla="*/ 603 w 634"/>
                <a:gd name="T13" fmla="*/ 14 h 633"/>
                <a:gd name="T14" fmla="*/ 74 w 634"/>
                <a:gd name="T15" fmla="*/ 309 h 633"/>
                <a:gd name="T16" fmla="*/ 74 w 634"/>
                <a:gd name="T17" fmla="*/ 309 h 633"/>
                <a:gd name="T18" fmla="*/ 530 w 634"/>
                <a:gd name="T19" fmla="*/ 88 h 633"/>
                <a:gd name="T20" fmla="*/ 206 w 634"/>
                <a:gd name="T21" fmla="*/ 382 h 633"/>
                <a:gd name="T22" fmla="*/ 74 w 634"/>
                <a:gd name="T23" fmla="*/ 309 h 633"/>
                <a:gd name="T24" fmla="*/ 309 w 634"/>
                <a:gd name="T25" fmla="*/ 559 h 633"/>
                <a:gd name="T26" fmla="*/ 309 w 634"/>
                <a:gd name="T27" fmla="*/ 559 h 633"/>
                <a:gd name="T28" fmla="*/ 236 w 634"/>
                <a:gd name="T29" fmla="*/ 397 h 633"/>
                <a:gd name="T30" fmla="*/ 545 w 634"/>
                <a:gd name="T31" fmla="*/ 102 h 633"/>
                <a:gd name="T32" fmla="*/ 309 w 634"/>
                <a:gd name="T33" fmla="*/ 559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34" h="633">
                  <a:moveTo>
                    <a:pt x="603" y="14"/>
                  </a:moveTo>
                  <a:lnTo>
                    <a:pt x="603" y="14"/>
                  </a:lnTo>
                  <a:cubicBezTo>
                    <a:pt x="574" y="14"/>
                    <a:pt x="0" y="309"/>
                    <a:pt x="0" y="309"/>
                  </a:cubicBezTo>
                  <a:lnTo>
                    <a:pt x="191" y="427"/>
                  </a:lnTo>
                  <a:lnTo>
                    <a:pt x="309" y="632"/>
                  </a:lnTo>
                  <a:cubicBezTo>
                    <a:pt x="309" y="632"/>
                    <a:pt x="618" y="44"/>
                    <a:pt x="618" y="29"/>
                  </a:cubicBezTo>
                  <a:cubicBezTo>
                    <a:pt x="633" y="14"/>
                    <a:pt x="618" y="0"/>
                    <a:pt x="603" y="14"/>
                  </a:cubicBezTo>
                  <a:close/>
                  <a:moveTo>
                    <a:pt x="74" y="309"/>
                  </a:moveTo>
                  <a:lnTo>
                    <a:pt x="74" y="309"/>
                  </a:lnTo>
                  <a:cubicBezTo>
                    <a:pt x="530" y="88"/>
                    <a:pt x="530" y="88"/>
                    <a:pt x="530" y="88"/>
                  </a:cubicBezTo>
                  <a:cubicBezTo>
                    <a:pt x="206" y="382"/>
                    <a:pt x="206" y="382"/>
                    <a:pt x="206" y="382"/>
                  </a:cubicBezTo>
                  <a:lnTo>
                    <a:pt x="74" y="309"/>
                  </a:lnTo>
                  <a:close/>
                  <a:moveTo>
                    <a:pt x="309" y="559"/>
                  </a:moveTo>
                  <a:lnTo>
                    <a:pt x="309" y="559"/>
                  </a:lnTo>
                  <a:cubicBezTo>
                    <a:pt x="309" y="559"/>
                    <a:pt x="250" y="441"/>
                    <a:pt x="236" y="397"/>
                  </a:cubicBezTo>
                  <a:cubicBezTo>
                    <a:pt x="545" y="102"/>
                    <a:pt x="545" y="102"/>
                    <a:pt x="545" y="102"/>
                  </a:cubicBezTo>
                  <a:lnTo>
                    <a:pt x="309" y="559"/>
                  </a:lnTo>
                  <a:close/>
                </a:path>
              </a:pathLst>
            </a:custGeom>
            <a:solidFill>
              <a:srgbClr val="FFFFFF"/>
            </a:solidFill>
            <a:ln>
              <a:noFill/>
            </a:ln>
            <a:effectLst/>
          </p:spPr>
          <p:txBody>
            <a:bodyPr wrap="none" lIns="73145" tIns="36573" rIns="73145" bIns="36573" anchor="ctr"/>
            <a:lstStyle/>
            <a:p>
              <a:pPr>
                <a:defRPr/>
              </a:pPr>
              <a:endParaRPr lang="en-US" sz="1440"/>
            </a:p>
          </p:txBody>
        </p:sp>
        <p:sp>
          <p:nvSpPr>
            <p:cNvPr id="34" name="Text Box 16">
              <a:extLst>
                <a:ext uri="{FF2B5EF4-FFF2-40B4-BE49-F238E27FC236}">
                  <a16:creationId xmlns:a16="http://schemas.microsoft.com/office/drawing/2014/main" id="{AC9FEA01-AD23-4368-9DBE-D74BD6AD9527}"/>
                </a:ext>
              </a:extLst>
            </p:cNvPr>
            <p:cNvSpPr txBox="1">
              <a:spLocks noChangeArrowheads="1"/>
            </p:cNvSpPr>
            <p:nvPr/>
          </p:nvSpPr>
          <p:spPr bwMode="auto">
            <a:xfrm>
              <a:off x="727338" y="3342133"/>
              <a:ext cx="1952863" cy="1455848"/>
            </a:xfrm>
            <a:prstGeom prst="rect">
              <a:avLst/>
            </a:prstGeom>
            <a:noFill/>
            <a:ln w="12700">
              <a:noFill/>
              <a:miter lim="800000"/>
              <a:headEnd/>
              <a:tailEnd/>
            </a:ln>
          </p:spPr>
          <p:txBody>
            <a:bodyPr wrap="square">
              <a:spAutoFit/>
            </a:bodyPr>
            <a:lstStyle/>
            <a:p>
              <a:pPr fontAlgn="base">
                <a:lnSpc>
                  <a:spcPct val="114000"/>
                </a:lnSpc>
                <a:spcBef>
                  <a:spcPct val="0"/>
                </a:spcBef>
                <a:spcAft>
                  <a:spcPts val="480"/>
                </a:spcAft>
                <a:buClr>
                  <a:schemeClr val="tx1"/>
                </a:buClr>
                <a:buSzPct val="100000"/>
              </a:pPr>
              <a:r>
                <a:rPr lang="de-DE" altLang="zh-CN" sz="880" b="1" dirty="0">
                  <a:solidFill>
                    <a:srgbClr val="262626"/>
                  </a:solidFill>
                  <a:latin typeface="-apple-system"/>
                </a:rPr>
                <a:t>Supplier </a:t>
              </a:r>
              <a:r>
                <a:rPr lang="de-DE" altLang="zh-CN" sz="880" b="1" dirty="0" err="1">
                  <a:solidFill>
                    <a:srgbClr val="262626"/>
                  </a:solidFill>
                  <a:latin typeface="-apple-system"/>
                </a:rPr>
                <a:t>bargaining</a:t>
              </a:r>
              <a:r>
                <a:rPr lang="de-DE" altLang="zh-CN" sz="880" b="1" dirty="0">
                  <a:solidFill>
                    <a:srgbClr val="262626"/>
                  </a:solidFill>
                  <a:latin typeface="-apple-system"/>
                </a:rPr>
                <a:t> power </a:t>
              </a:r>
              <a:r>
                <a:rPr lang="de-DE" altLang="zh-CN" sz="880" b="1" dirty="0" err="1">
                  <a:solidFill>
                    <a:srgbClr val="262626"/>
                  </a:solidFill>
                  <a:latin typeface="-apple-system"/>
                </a:rPr>
                <a:t>is</a:t>
              </a:r>
              <a:r>
                <a:rPr lang="de-DE" altLang="zh-CN" sz="880" b="1" dirty="0">
                  <a:solidFill>
                    <a:srgbClr val="262626"/>
                  </a:solidFill>
                  <a:latin typeface="-apple-system"/>
                </a:rPr>
                <a:t> moderate, </a:t>
              </a:r>
              <a:r>
                <a:rPr lang="de-DE" altLang="zh-CN" sz="880" b="1" dirty="0" err="1">
                  <a:solidFill>
                    <a:srgbClr val="262626"/>
                  </a:solidFill>
                  <a:latin typeface="-apple-system"/>
                </a:rPr>
                <a:t>driven</a:t>
              </a:r>
              <a:r>
                <a:rPr lang="de-DE" altLang="zh-CN" sz="880" b="1" dirty="0">
                  <a:solidFill>
                    <a:srgbClr val="262626"/>
                  </a:solidFill>
                  <a:latin typeface="-apple-system"/>
                </a:rPr>
                <a:t> </a:t>
              </a:r>
              <a:r>
                <a:rPr lang="de-DE" altLang="zh-CN" sz="880" b="1" dirty="0" err="1">
                  <a:solidFill>
                    <a:srgbClr val="262626"/>
                  </a:solidFill>
                  <a:latin typeface="-apple-system"/>
                </a:rPr>
                <a:t>by</a:t>
              </a:r>
              <a:r>
                <a:rPr lang="de-DE" altLang="zh-CN" sz="880" b="1" dirty="0">
                  <a:solidFill>
                    <a:srgbClr val="262626"/>
                  </a:solidFill>
                  <a:latin typeface="-apple-system"/>
                </a:rPr>
                <a:t> </a:t>
              </a:r>
              <a:r>
                <a:rPr lang="de-DE" altLang="zh-CN" sz="880" b="1" dirty="0" err="1">
                  <a:solidFill>
                    <a:srgbClr val="262626"/>
                  </a:solidFill>
                  <a:latin typeface="-apple-system"/>
                </a:rPr>
                <a:t>technology</a:t>
              </a:r>
              <a:r>
                <a:rPr lang="de-DE" altLang="zh-CN" sz="880" b="1" dirty="0">
                  <a:solidFill>
                    <a:srgbClr val="262626"/>
                  </a:solidFill>
                  <a:latin typeface="-apple-system"/>
                </a:rPr>
                <a:t> </a:t>
              </a:r>
              <a:r>
                <a:rPr lang="de-DE" altLang="zh-CN" sz="880" b="1" dirty="0" err="1">
                  <a:solidFill>
                    <a:srgbClr val="262626"/>
                  </a:solidFill>
                  <a:latin typeface="-apple-system"/>
                </a:rPr>
                <a:t>dependency</a:t>
              </a:r>
              <a:r>
                <a:rPr lang="de-DE" altLang="zh-CN" sz="880" b="1" dirty="0">
                  <a:solidFill>
                    <a:srgbClr val="262626"/>
                  </a:solidFill>
                  <a:latin typeface="-apple-system"/>
                </a:rPr>
                <a:t> and premium </a:t>
              </a:r>
              <a:r>
                <a:rPr lang="de-DE" altLang="zh-CN" sz="880" b="1" dirty="0" err="1">
                  <a:solidFill>
                    <a:srgbClr val="262626"/>
                  </a:solidFill>
                  <a:latin typeface="-apple-system"/>
                </a:rPr>
                <a:t>raw</a:t>
              </a:r>
              <a:r>
                <a:rPr lang="de-DE" altLang="zh-CN" sz="880" b="1" dirty="0">
                  <a:solidFill>
                    <a:srgbClr val="262626"/>
                  </a:solidFill>
                  <a:latin typeface="-apple-system"/>
                </a:rPr>
                <a:t> material </a:t>
              </a:r>
              <a:r>
                <a:rPr lang="de-DE" altLang="zh-CN" sz="880" b="1" dirty="0" err="1">
                  <a:solidFill>
                    <a:srgbClr val="262626"/>
                  </a:solidFill>
                  <a:latin typeface="-apple-system"/>
                </a:rPr>
                <a:t>demand</a:t>
              </a:r>
              <a:r>
                <a:rPr lang="de-DE" altLang="zh-CN" sz="880" b="1" dirty="0">
                  <a:solidFill>
                    <a:srgbClr val="262626"/>
                  </a:solidFill>
                  <a:latin typeface="-apple-system"/>
                </a:rPr>
                <a:t>, but </a:t>
              </a:r>
              <a:r>
                <a:rPr lang="de-DE" altLang="zh-CN" sz="880" b="1" dirty="0" err="1">
                  <a:solidFill>
                    <a:srgbClr val="262626"/>
                  </a:solidFill>
                  <a:latin typeface="-apple-system"/>
                </a:rPr>
                <a:t>alleviated</a:t>
              </a:r>
              <a:r>
                <a:rPr lang="de-DE" altLang="zh-CN" sz="880" b="1" dirty="0">
                  <a:solidFill>
                    <a:srgbClr val="262626"/>
                  </a:solidFill>
                  <a:latin typeface="-apple-system"/>
                </a:rPr>
                <a:t> </a:t>
              </a:r>
              <a:r>
                <a:rPr lang="de-DE" altLang="zh-CN" sz="880" b="1" dirty="0" err="1">
                  <a:solidFill>
                    <a:srgbClr val="262626"/>
                  </a:solidFill>
                  <a:latin typeface="-apple-system"/>
                </a:rPr>
                <a:t>by</a:t>
              </a:r>
              <a:r>
                <a:rPr lang="de-DE" altLang="zh-CN" sz="880" b="1" dirty="0">
                  <a:solidFill>
                    <a:srgbClr val="262626"/>
                  </a:solidFill>
                  <a:latin typeface="-apple-system"/>
                </a:rPr>
                <a:t> global </a:t>
              </a:r>
              <a:r>
                <a:rPr lang="de-DE" altLang="zh-CN" sz="880" b="1" dirty="0" err="1">
                  <a:solidFill>
                    <a:srgbClr val="262626"/>
                  </a:solidFill>
                  <a:latin typeface="-apple-system"/>
                </a:rPr>
                <a:t>supply</a:t>
              </a:r>
              <a:r>
                <a:rPr lang="de-DE" altLang="zh-CN" sz="880" b="1" dirty="0">
                  <a:solidFill>
                    <a:srgbClr val="262626"/>
                  </a:solidFill>
                  <a:latin typeface="-apple-system"/>
                </a:rPr>
                <a:t> </a:t>
              </a:r>
              <a:r>
                <a:rPr lang="de-DE" altLang="zh-CN" sz="880" b="1" dirty="0" err="1">
                  <a:solidFill>
                    <a:srgbClr val="262626"/>
                  </a:solidFill>
                  <a:latin typeface="-apple-system"/>
                </a:rPr>
                <a:t>chain</a:t>
              </a:r>
              <a:r>
                <a:rPr lang="de-DE" altLang="zh-CN" sz="880" b="1" dirty="0">
                  <a:solidFill>
                    <a:srgbClr val="262626"/>
                  </a:solidFill>
                  <a:latin typeface="-apple-system"/>
                </a:rPr>
                <a:t> </a:t>
              </a:r>
              <a:r>
                <a:rPr lang="de-DE" altLang="zh-CN" sz="880" b="1" dirty="0" err="1">
                  <a:solidFill>
                    <a:srgbClr val="262626"/>
                  </a:solidFill>
                  <a:latin typeface="-apple-system"/>
                </a:rPr>
                <a:t>management</a:t>
              </a:r>
              <a:r>
                <a:rPr lang="de-DE" altLang="zh-CN" sz="880" b="1" dirty="0">
                  <a:solidFill>
                    <a:srgbClr val="262626"/>
                  </a:solidFill>
                  <a:latin typeface="-apple-system"/>
                </a:rPr>
                <a:t>.</a:t>
              </a:r>
              <a:endParaRPr lang="es-ES" altLang="en-US" sz="880" b="1" dirty="0">
                <a:latin typeface="Georgia Pro Light" panose="02040302050405020303" pitchFamily="18" charset="0"/>
              </a:endParaRPr>
            </a:p>
          </p:txBody>
        </p:sp>
      </p:grpSp>
      <p:grpSp>
        <p:nvGrpSpPr>
          <p:cNvPr id="53" name="Group 52">
            <a:extLst>
              <a:ext uri="{FF2B5EF4-FFF2-40B4-BE49-F238E27FC236}">
                <a16:creationId xmlns:a16="http://schemas.microsoft.com/office/drawing/2014/main" id="{63174DC5-9B4C-491E-847E-934F8B7CAFEF}"/>
              </a:ext>
            </a:extLst>
          </p:cNvPr>
          <p:cNvGrpSpPr/>
          <p:nvPr/>
        </p:nvGrpSpPr>
        <p:grpSpPr>
          <a:xfrm>
            <a:off x="2531947" y="850043"/>
            <a:ext cx="1423749" cy="2346934"/>
            <a:chOff x="3084124" y="1344457"/>
            <a:chExt cx="1779686" cy="2933667"/>
          </a:xfrm>
        </p:grpSpPr>
        <p:sp>
          <p:nvSpPr>
            <p:cNvPr id="5" name="矩形 62">
              <a:extLst>
                <a:ext uri="{FF2B5EF4-FFF2-40B4-BE49-F238E27FC236}">
                  <a16:creationId xmlns:a16="http://schemas.microsoft.com/office/drawing/2014/main" id="{B7102353-4B33-40BB-ADA1-89C14D4C9D0C}"/>
                </a:ext>
              </a:extLst>
            </p:cNvPr>
            <p:cNvSpPr/>
            <p:nvPr/>
          </p:nvSpPr>
          <p:spPr>
            <a:xfrm>
              <a:off x="3157823" y="2632173"/>
              <a:ext cx="1705987" cy="484747"/>
            </a:xfrm>
            <a:prstGeom prst="rect">
              <a:avLst/>
            </a:prstGeom>
          </p:spPr>
          <p:txBody>
            <a:bodyPr wrap="square">
              <a:spAutoFit/>
            </a:bodyPr>
            <a:lstStyle/>
            <a:p>
              <a:pPr>
                <a:spcAft>
                  <a:spcPts val="960"/>
                </a:spcAft>
              </a:pPr>
              <a:r>
                <a:rPr lang="de-DE" altLang="zh-CN" sz="960" b="1" dirty="0" err="1">
                  <a:solidFill>
                    <a:srgbClr val="262626"/>
                  </a:solidFill>
                  <a:latin typeface="-apple-system"/>
                </a:rPr>
                <a:t>Bargaining</a:t>
              </a:r>
              <a:r>
                <a:rPr lang="de-DE" altLang="zh-CN" sz="960" b="1" dirty="0">
                  <a:solidFill>
                    <a:srgbClr val="262626"/>
                  </a:solidFill>
                  <a:latin typeface="-apple-system"/>
                </a:rPr>
                <a:t> Power </a:t>
              </a:r>
              <a:r>
                <a:rPr lang="de-DE" altLang="zh-CN" sz="960" b="1" dirty="0" err="1">
                  <a:solidFill>
                    <a:srgbClr val="262626"/>
                  </a:solidFill>
                  <a:latin typeface="-apple-system"/>
                </a:rPr>
                <a:t>of</a:t>
              </a:r>
              <a:r>
                <a:rPr lang="de-DE" altLang="zh-CN" sz="960" b="1" dirty="0">
                  <a:solidFill>
                    <a:srgbClr val="262626"/>
                  </a:solidFill>
                  <a:latin typeface="-apple-system"/>
                </a:rPr>
                <a:t> </a:t>
              </a:r>
              <a:r>
                <a:rPr lang="de-DE" altLang="zh-CN" sz="960" b="1" dirty="0" err="1">
                  <a:solidFill>
                    <a:srgbClr val="262626"/>
                  </a:solidFill>
                  <a:latin typeface="-apple-system"/>
                </a:rPr>
                <a:t>Buyers</a:t>
              </a:r>
              <a:endParaRPr lang="de-DE" altLang="zh-CN" sz="960" b="1" dirty="0">
                <a:solidFill>
                  <a:srgbClr val="262626"/>
                </a:solidFill>
                <a:latin typeface="-apple-system"/>
              </a:endParaRPr>
            </a:p>
          </p:txBody>
        </p:sp>
        <p:sp>
          <p:nvSpPr>
            <p:cNvPr id="22" name="Shape 2855">
              <a:extLst>
                <a:ext uri="{FF2B5EF4-FFF2-40B4-BE49-F238E27FC236}">
                  <a16:creationId xmlns:a16="http://schemas.microsoft.com/office/drawing/2014/main" id="{66CA90E3-9D21-402C-A2EC-DE817B09FA8D}"/>
                </a:ext>
              </a:extLst>
            </p:cNvPr>
            <p:cNvSpPr/>
            <p:nvPr/>
          </p:nvSpPr>
          <p:spPr>
            <a:xfrm>
              <a:off x="3751669" y="1344457"/>
              <a:ext cx="385746" cy="424320"/>
            </a:xfrm>
            <a:custGeom>
              <a:avLst/>
              <a:gdLst/>
              <a:ahLst/>
              <a:cxnLst>
                <a:cxn ang="0">
                  <a:pos x="wd2" y="hd2"/>
                </a:cxn>
                <a:cxn ang="5400000">
                  <a:pos x="wd2" y="hd2"/>
                </a:cxn>
                <a:cxn ang="10800000">
                  <a:pos x="wd2" y="hd2"/>
                </a:cxn>
                <a:cxn ang="16200000">
                  <a:pos x="wd2" y="hd2"/>
                </a:cxn>
              </a:cxnLst>
              <a:rect l="0" t="0" r="r" b="b"/>
              <a:pathLst>
                <a:path w="21600" h="21600" extrusionOk="0">
                  <a:moveTo>
                    <a:pt x="18907" y="20616"/>
                  </a:moveTo>
                  <a:cubicBezTo>
                    <a:pt x="18012" y="20616"/>
                    <a:pt x="17287" y="19956"/>
                    <a:pt x="17287" y="19143"/>
                  </a:cubicBezTo>
                  <a:cubicBezTo>
                    <a:pt x="17287" y="18329"/>
                    <a:pt x="18012" y="17669"/>
                    <a:pt x="18907" y="17669"/>
                  </a:cubicBezTo>
                  <a:cubicBezTo>
                    <a:pt x="19802" y="17669"/>
                    <a:pt x="20527" y="18329"/>
                    <a:pt x="20527" y="19143"/>
                  </a:cubicBezTo>
                  <a:cubicBezTo>
                    <a:pt x="20527" y="19956"/>
                    <a:pt x="19802" y="20616"/>
                    <a:pt x="18907" y="20616"/>
                  </a:cubicBezTo>
                  <a:moveTo>
                    <a:pt x="2703" y="12269"/>
                  </a:moveTo>
                  <a:cubicBezTo>
                    <a:pt x="1808" y="12269"/>
                    <a:pt x="1082" y="11609"/>
                    <a:pt x="1082" y="10795"/>
                  </a:cubicBezTo>
                  <a:cubicBezTo>
                    <a:pt x="1082" y="9981"/>
                    <a:pt x="1808" y="9322"/>
                    <a:pt x="2703" y="9322"/>
                  </a:cubicBezTo>
                  <a:cubicBezTo>
                    <a:pt x="3598" y="9322"/>
                    <a:pt x="4323" y="9981"/>
                    <a:pt x="4323" y="10795"/>
                  </a:cubicBezTo>
                  <a:cubicBezTo>
                    <a:pt x="4323" y="11609"/>
                    <a:pt x="3598" y="12269"/>
                    <a:pt x="2703" y="12269"/>
                  </a:cubicBezTo>
                  <a:moveTo>
                    <a:pt x="18907" y="975"/>
                  </a:moveTo>
                  <a:cubicBezTo>
                    <a:pt x="19802" y="975"/>
                    <a:pt x="20527" y="1634"/>
                    <a:pt x="20527" y="2448"/>
                  </a:cubicBezTo>
                  <a:cubicBezTo>
                    <a:pt x="20527" y="3262"/>
                    <a:pt x="19802" y="3921"/>
                    <a:pt x="18907" y="3921"/>
                  </a:cubicBezTo>
                  <a:cubicBezTo>
                    <a:pt x="18012" y="3921"/>
                    <a:pt x="17287" y="3262"/>
                    <a:pt x="17287" y="2448"/>
                  </a:cubicBezTo>
                  <a:cubicBezTo>
                    <a:pt x="17287" y="1634"/>
                    <a:pt x="18012" y="975"/>
                    <a:pt x="18907" y="975"/>
                  </a:cubicBezTo>
                  <a:moveTo>
                    <a:pt x="18902" y="16695"/>
                  </a:moveTo>
                  <a:cubicBezTo>
                    <a:pt x="18092" y="16695"/>
                    <a:pt x="17374" y="17026"/>
                    <a:pt x="16879" y="17540"/>
                  </a:cubicBezTo>
                  <a:lnTo>
                    <a:pt x="5253" y="11551"/>
                  </a:lnTo>
                  <a:cubicBezTo>
                    <a:pt x="5338" y="11314"/>
                    <a:pt x="5396" y="11064"/>
                    <a:pt x="5396" y="10800"/>
                  </a:cubicBezTo>
                  <a:cubicBezTo>
                    <a:pt x="5396" y="10536"/>
                    <a:pt x="5338" y="10286"/>
                    <a:pt x="5253" y="10048"/>
                  </a:cubicBezTo>
                  <a:lnTo>
                    <a:pt x="16879" y="4059"/>
                  </a:lnTo>
                  <a:cubicBezTo>
                    <a:pt x="17373" y="4574"/>
                    <a:pt x="18092" y="4905"/>
                    <a:pt x="18902" y="4905"/>
                  </a:cubicBezTo>
                  <a:cubicBezTo>
                    <a:pt x="20392" y="4905"/>
                    <a:pt x="21600" y="3807"/>
                    <a:pt x="21600" y="2452"/>
                  </a:cubicBezTo>
                  <a:cubicBezTo>
                    <a:pt x="21600" y="1098"/>
                    <a:pt x="20392" y="0"/>
                    <a:pt x="18902" y="0"/>
                  </a:cubicBezTo>
                  <a:cubicBezTo>
                    <a:pt x="17412" y="0"/>
                    <a:pt x="16204" y="1098"/>
                    <a:pt x="16204" y="2452"/>
                  </a:cubicBezTo>
                  <a:cubicBezTo>
                    <a:pt x="16204" y="2716"/>
                    <a:pt x="16262" y="2966"/>
                    <a:pt x="16347" y="3204"/>
                  </a:cubicBezTo>
                  <a:lnTo>
                    <a:pt x="4722" y="9193"/>
                  </a:lnTo>
                  <a:cubicBezTo>
                    <a:pt x="4227" y="8679"/>
                    <a:pt x="3509" y="8347"/>
                    <a:pt x="2698" y="8347"/>
                  </a:cubicBezTo>
                  <a:cubicBezTo>
                    <a:pt x="1208" y="8347"/>
                    <a:pt x="0" y="9445"/>
                    <a:pt x="0" y="10800"/>
                  </a:cubicBezTo>
                  <a:cubicBezTo>
                    <a:pt x="0" y="12155"/>
                    <a:pt x="1208" y="13253"/>
                    <a:pt x="2698" y="13253"/>
                  </a:cubicBezTo>
                  <a:cubicBezTo>
                    <a:pt x="3509" y="13253"/>
                    <a:pt x="4227" y="12921"/>
                    <a:pt x="4722" y="12406"/>
                  </a:cubicBezTo>
                  <a:lnTo>
                    <a:pt x="16347" y="18395"/>
                  </a:lnTo>
                  <a:cubicBezTo>
                    <a:pt x="16262" y="18633"/>
                    <a:pt x="16204" y="18883"/>
                    <a:pt x="16204" y="19147"/>
                  </a:cubicBezTo>
                  <a:cubicBezTo>
                    <a:pt x="16204" y="20502"/>
                    <a:pt x="17412" y="21600"/>
                    <a:pt x="18902" y="21600"/>
                  </a:cubicBezTo>
                  <a:cubicBezTo>
                    <a:pt x="20392" y="21600"/>
                    <a:pt x="21600" y="20502"/>
                    <a:pt x="21600" y="19147"/>
                  </a:cubicBezTo>
                  <a:cubicBezTo>
                    <a:pt x="21600" y="17792"/>
                    <a:pt x="20392" y="16695"/>
                    <a:pt x="18902" y="16695"/>
                  </a:cubicBezTo>
                </a:path>
              </a:pathLst>
            </a:custGeom>
            <a:solidFill>
              <a:schemeClr val="bg1"/>
            </a:solidFill>
            <a:ln w="12700">
              <a:solidFill>
                <a:srgbClr val="FFFFFF"/>
              </a:solidFill>
              <a:miter lim="400000"/>
            </a:ln>
          </p:spPr>
          <p:txBody>
            <a:bodyPr lIns="11427" tIns="11427" rIns="11427" bIns="11427" anchor="ctr"/>
            <a:lstStyle/>
            <a:p>
              <a:pPr defTabSz="137119"/>
              <a:endParaRPr sz="900">
                <a:solidFill>
                  <a:srgbClr val="0070C0"/>
                </a:solidFill>
                <a:effectLst>
                  <a:outerShdw blurRad="38100" dist="12700" dir="5400000" rotWithShape="0">
                    <a:srgbClr val="000000">
                      <a:alpha val="50000"/>
                    </a:srgbClr>
                  </a:outerShdw>
                </a:effectLst>
                <a:latin typeface="Gill Sans"/>
                <a:ea typeface="Calibri" charset="0"/>
                <a:cs typeface="Calibri" charset="0"/>
                <a:sym typeface="Gill Sans"/>
              </a:endParaRPr>
            </a:p>
          </p:txBody>
        </p:sp>
        <p:sp>
          <p:nvSpPr>
            <p:cNvPr id="35" name="Text Box 16">
              <a:extLst>
                <a:ext uri="{FF2B5EF4-FFF2-40B4-BE49-F238E27FC236}">
                  <a16:creationId xmlns:a16="http://schemas.microsoft.com/office/drawing/2014/main" id="{91AC7C95-4FA8-430D-AA44-CB9246C5B2C9}"/>
                </a:ext>
              </a:extLst>
            </p:cNvPr>
            <p:cNvSpPr txBox="1">
              <a:spLocks noChangeArrowheads="1"/>
            </p:cNvSpPr>
            <p:nvPr/>
          </p:nvSpPr>
          <p:spPr bwMode="auto">
            <a:xfrm>
              <a:off x="3084124" y="3208280"/>
              <a:ext cx="1720836" cy="1069844"/>
            </a:xfrm>
            <a:prstGeom prst="rect">
              <a:avLst/>
            </a:prstGeom>
            <a:noFill/>
            <a:ln w="12700">
              <a:noFill/>
              <a:miter lim="800000"/>
              <a:headEnd/>
              <a:tailEnd/>
            </a:ln>
          </p:spPr>
          <p:txBody>
            <a:bodyPr wrap="square">
              <a:spAutoFit/>
            </a:bodyPr>
            <a:lstStyle/>
            <a:p>
              <a:pPr fontAlgn="base">
                <a:lnSpc>
                  <a:spcPct val="114000"/>
                </a:lnSpc>
                <a:spcBef>
                  <a:spcPct val="0"/>
                </a:spcBef>
                <a:spcAft>
                  <a:spcPts val="480"/>
                </a:spcAft>
                <a:buClr>
                  <a:schemeClr val="tx1"/>
                </a:buClr>
                <a:buSzPct val="100000"/>
              </a:pPr>
              <a:r>
                <a:rPr lang="de-DE" altLang="zh-CN" sz="880" b="1" dirty="0" err="1">
                  <a:solidFill>
                    <a:srgbClr val="262626"/>
                  </a:solidFill>
                  <a:latin typeface="-apple-system"/>
                </a:rPr>
                <a:t>Buyer</a:t>
              </a:r>
              <a:r>
                <a:rPr lang="de-DE" altLang="zh-CN" sz="880" b="1" dirty="0">
                  <a:solidFill>
                    <a:srgbClr val="262626"/>
                  </a:solidFill>
                  <a:latin typeface="-apple-system"/>
                </a:rPr>
                <a:t> </a:t>
              </a:r>
              <a:r>
                <a:rPr lang="de-DE" altLang="zh-CN" sz="880" b="1" dirty="0" err="1">
                  <a:solidFill>
                    <a:srgbClr val="262626"/>
                  </a:solidFill>
                  <a:latin typeface="-apple-system"/>
                </a:rPr>
                <a:t>bargaining</a:t>
              </a:r>
              <a:r>
                <a:rPr lang="de-DE" altLang="zh-CN" sz="880" b="1" dirty="0">
                  <a:solidFill>
                    <a:srgbClr val="262626"/>
                  </a:solidFill>
                  <a:latin typeface="-apple-system"/>
                </a:rPr>
                <a:t> power </a:t>
              </a:r>
              <a:r>
                <a:rPr lang="de-DE" altLang="zh-CN" sz="880" b="1" dirty="0" err="1">
                  <a:solidFill>
                    <a:srgbClr val="262626"/>
                  </a:solidFill>
                  <a:latin typeface="-apple-system"/>
                </a:rPr>
                <a:t>is</a:t>
              </a:r>
              <a:r>
                <a:rPr lang="de-DE" altLang="zh-CN" sz="880" b="1" dirty="0">
                  <a:solidFill>
                    <a:srgbClr val="262626"/>
                  </a:solidFill>
                  <a:latin typeface="-apple-system"/>
                </a:rPr>
                <a:t> high, </a:t>
              </a:r>
              <a:r>
                <a:rPr lang="de-DE" altLang="zh-CN" sz="880" b="1" dirty="0" err="1">
                  <a:solidFill>
                    <a:srgbClr val="262626"/>
                  </a:solidFill>
                  <a:latin typeface="-apple-system"/>
                </a:rPr>
                <a:t>especially</a:t>
              </a:r>
              <a:r>
                <a:rPr lang="de-DE" altLang="zh-CN" sz="880" b="1" dirty="0">
                  <a:solidFill>
                    <a:srgbClr val="262626"/>
                  </a:solidFill>
                  <a:latin typeface="-apple-system"/>
                </a:rPr>
                <a:t> in </a:t>
              </a:r>
              <a:r>
                <a:rPr lang="de-DE" altLang="zh-CN" sz="880" b="1" dirty="0" err="1">
                  <a:solidFill>
                    <a:srgbClr val="262626"/>
                  </a:solidFill>
                  <a:latin typeface="-apple-system"/>
                </a:rPr>
                <a:t>markets</a:t>
              </a:r>
              <a:r>
                <a:rPr lang="de-DE" altLang="zh-CN" sz="880" b="1" dirty="0">
                  <a:solidFill>
                    <a:srgbClr val="262626"/>
                  </a:solidFill>
                  <a:latin typeface="-apple-system"/>
                </a:rPr>
                <a:t> </a:t>
              </a:r>
              <a:r>
                <a:rPr lang="de-DE" altLang="zh-CN" sz="880" b="1" dirty="0" err="1">
                  <a:solidFill>
                    <a:srgbClr val="262626"/>
                  </a:solidFill>
                  <a:latin typeface="-apple-system"/>
                </a:rPr>
                <a:t>with</a:t>
              </a:r>
              <a:r>
                <a:rPr lang="de-DE" altLang="zh-CN" sz="880" b="1" dirty="0">
                  <a:solidFill>
                    <a:srgbClr val="262626"/>
                  </a:solidFill>
                  <a:latin typeface="-apple-system"/>
                </a:rPr>
                <a:t> abundant </a:t>
              </a:r>
              <a:r>
                <a:rPr lang="de-DE" altLang="zh-CN" sz="880" b="1" dirty="0" err="1">
                  <a:solidFill>
                    <a:srgbClr val="262626"/>
                  </a:solidFill>
                  <a:latin typeface="-apple-system"/>
                </a:rPr>
                <a:t>substitutes</a:t>
              </a:r>
              <a:r>
                <a:rPr lang="de-DE" altLang="zh-CN" sz="880" b="1" dirty="0">
                  <a:solidFill>
                    <a:srgbClr val="262626"/>
                  </a:solidFill>
                  <a:latin typeface="-apple-system"/>
                </a:rPr>
                <a:t> </a:t>
              </a:r>
              <a:r>
                <a:rPr lang="de-DE" altLang="zh-CN" sz="880" b="1" dirty="0" err="1">
                  <a:solidFill>
                    <a:srgbClr val="262626"/>
                  </a:solidFill>
                  <a:latin typeface="-apple-system"/>
                </a:rPr>
                <a:t>or</a:t>
              </a:r>
              <a:r>
                <a:rPr lang="de-DE" altLang="zh-CN" sz="880" b="1" dirty="0">
                  <a:solidFill>
                    <a:srgbClr val="262626"/>
                  </a:solidFill>
                  <a:latin typeface="-apple-system"/>
                </a:rPr>
                <a:t> </a:t>
              </a:r>
              <a:r>
                <a:rPr lang="de-DE" altLang="zh-CN" sz="880" b="1" dirty="0" err="1">
                  <a:solidFill>
                    <a:srgbClr val="262626"/>
                  </a:solidFill>
                  <a:latin typeface="-apple-system"/>
                </a:rPr>
                <a:t>price</a:t>
              </a:r>
              <a:r>
                <a:rPr lang="de-DE" altLang="zh-CN" sz="880" b="1" dirty="0">
                  <a:solidFill>
                    <a:srgbClr val="262626"/>
                  </a:solidFill>
                  <a:latin typeface="-apple-system"/>
                </a:rPr>
                <a:t>-sensitive </a:t>
              </a:r>
              <a:r>
                <a:rPr lang="de-DE" altLang="zh-CN" sz="880" b="1" dirty="0" err="1">
                  <a:solidFill>
                    <a:srgbClr val="262626"/>
                  </a:solidFill>
                  <a:latin typeface="-apple-system"/>
                </a:rPr>
                <a:t>consumers</a:t>
              </a:r>
              <a:r>
                <a:rPr lang="de-DE" altLang="zh-CN" sz="880" b="1" dirty="0">
                  <a:solidFill>
                    <a:srgbClr val="262626"/>
                  </a:solidFill>
                  <a:latin typeface="-apple-system"/>
                </a:rPr>
                <a:t>.</a:t>
              </a:r>
              <a:endParaRPr lang="es-ES" altLang="en-US" sz="880" b="1" dirty="0">
                <a:latin typeface="Georgia Pro Light" panose="02040302050405020303" pitchFamily="18" charset="0"/>
              </a:endParaRPr>
            </a:p>
          </p:txBody>
        </p:sp>
      </p:grpSp>
      <p:grpSp>
        <p:nvGrpSpPr>
          <p:cNvPr id="54" name="Group 53">
            <a:extLst>
              <a:ext uri="{FF2B5EF4-FFF2-40B4-BE49-F238E27FC236}">
                <a16:creationId xmlns:a16="http://schemas.microsoft.com/office/drawing/2014/main" id="{246D3E22-CA45-4908-8DD5-A89CFD692A1F}"/>
              </a:ext>
            </a:extLst>
          </p:cNvPr>
          <p:cNvGrpSpPr/>
          <p:nvPr/>
        </p:nvGrpSpPr>
        <p:grpSpPr>
          <a:xfrm>
            <a:off x="4283239" y="1868470"/>
            <a:ext cx="1526526" cy="1185239"/>
            <a:chOff x="5273238" y="2617490"/>
            <a:chExt cx="1908157" cy="1481549"/>
          </a:xfrm>
        </p:grpSpPr>
        <p:sp>
          <p:nvSpPr>
            <p:cNvPr id="6" name="矩形 63">
              <a:extLst>
                <a:ext uri="{FF2B5EF4-FFF2-40B4-BE49-F238E27FC236}">
                  <a16:creationId xmlns:a16="http://schemas.microsoft.com/office/drawing/2014/main" id="{F9075FC7-F6F7-4A5E-83AF-0706FD35BD69}"/>
                </a:ext>
              </a:extLst>
            </p:cNvPr>
            <p:cNvSpPr/>
            <p:nvPr/>
          </p:nvSpPr>
          <p:spPr>
            <a:xfrm>
              <a:off x="5273238" y="2617490"/>
              <a:ext cx="1484585" cy="669414"/>
            </a:xfrm>
            <a:prstGeom prst="rect">
              <a:avLst/>
            </a:prstGeom>
          </p:spPr>
          <p:txBody>
            <a:bodyPr wrap="square">
              <a:spAutoFit/>
            </a:bodyPr>
            <a:lstStyle/>
            <a:p>
              <a:pPr algn="ctr" fontAlgn="base">
                <a:spcBef>
                  <a:spcPct val="0"/>
                </a:spcBef>
                <a:spcAft>
                  <a:spcPct val="0"/>
                </a:spcAft>
              </a:pPr>
              <a:r>
                <a:rPr lang="de-DE" altLang="zh-CN" sz="960" b="1" dirty="0" err="1">
                  <a:solidFill>
                    <a:srgbClr val="262626"/>
                  </a:solidFill>
                  <a:latin typeface="-apple-system"/>
                </a:rPr>
                <a:t>Threat</a:t>
              </a:r>
              <a:r>
                <a:rPr lang="de-DE" altLang="zh-CN" sz="960" b="1" dirty="0">
                  <a:solidFill>
                    <a:srgbClr val="262626"/>
                  </a:solidFill>
                  <a:latin typeface="-apple-system"/>
                </a:rPr>
                <a:t> </a:t>
              </a:r>
              <a:r>
                <a:rPr lang="de-DE" altLang="zh-CN" sz="960" b="1" dirty="0" err="1">
                  <a:solidFill>
                    <a:srgbClr val="262626"/>
                  </a:solidFill>
                  <a:latin typeface="-apple-system"/>
                </a:rPr>
                <a:t>of</a:t>
              </a:r>
              <a:r>
                <a:rPr lang="de-DE" altLang="zh-CN" sz="960" b="1" dirty="0">
                  <a:solidFill>
                    <a:srgbClr val="262626"/>
                  </a:solidFill>
                  <a:latin typeface="-apple-system"/>
                </a:rPr>
                <a:t> Substitutes</a:t>
              </a:r>
            </a:p>
            <a:p>
              <a:pPr algn="ctr" fontAlgn="base">
                <a:spcBef>
                  <a:spcPct val="0"/>
                </a:spcBef>
                <a:spcAft>
                  <a:spcPct val="0"/>
                </a:spcAft>
              </a:pPr>
              <a:endParaRPr lang="es-ES" altLang="en-US" sz="960" b="1" dirty="0">
                <a:solidFill>
                  <a:schemeClr val="tx1">
                    <a:lumMod val="75000"/>
                    <a:lumOff val="25000"/>
                  </a:schemeClr>
                </a:solidFill>
                <a:latin typeface="Georgia" panose="02040502050405020303" pitchFamily="18" charset="0"/>
              </a:endParaRPr>
            </a:p>
          </p:txBody>
        </p:sp>
        <p:sp>
          <p:nvSpPr>
            <p:cNvPr id="36" name="Text Box 16">
              <a:extLst>
                <a:ext uri="{FF2B5EF4-FFF2-40B4-BE49-F238E27FC236}">
                  <a16:creationId xmlns:a16="http://schemas.microsoft.com/office/drawing/2014/main" id="{92471082-4E67-4215-ACC1-323C8EADB20B}"/>
                </a:ext>
              </a:extLst>
            </p:cNvPr>
            <p:cNvSpPr txBox="1">
              <a:spLocks noChangeArrowheads="1"/>
            </p:cNvSpPr>
            <p:nvPr/>
          </p:nvSpPr>
          <p:spPr bwMode="auto">
            <a:xfrm>
              <a:off x="5460559" y="3245344"/>
              <a:ext cx="1720836" cy="853695"/>
            </a:xfrm>
            <a:prstGeom prst="rect">
              <a:avLst/>
            </a:prstGeom>
            <a:noFill/>
            <a:ln w="12700">
              <a:noFill/>
              <a:miter lim="800000"/>
              <a:headEnd/>
              <a:tailEnd/>
            </a:ln>
          </p:spPr>
          <p:txBody>
            <a:bodyPr wrap="square">
              <a:normAutofit lnSpcReduction="10000"/>
            </a:bodyPr>
            <a:lstStyle/>
            <a:p>
              <a:pPr fontAlgn="base">
                <a:lnSpc>
                  <a:spcPct val="114000"/>
                </a:lnSpc>
                <a:spcBef>
                  <a:spcPct val="0"/>
                </a:spcBef>
                <a:spcAft>
                  <a:spcPts val="480"/>
                </a:spcAft>
                <a:buClr>
                  <a:schemeClr val="tx1"/>
                </a:buClr>
                <a:buSzPct val="100000"/>
              </a:pPr>
              <a:r>
                <a:rPr lang="de-DE" altLang="zh-CN" sz="880" b="1" dirty="0">
                  <a:solidFill>
                    <a:srgbClr val="262626"/>
                  </a:solidFill>
                  <a:latin typeface="-apple-system"/>
                </a:rPr>
                <a:t>The </a:t>
              </a:r>
              <a:r>
                <a:rPr lang="de-DE" altLang="zh-CN" sz="880" b="1" dirty="0" err="1">
                  <a:solidFill>
                    <a:srgbClr val="262626"/>
                  </a:solidFill>
                  <a:latin typeface="-apple-system"/>
                </a:rPr>
                <a:t>threat</a:t>
              </a:r>
              <a:r>
                <a:rPr lang="de-DE" altLang="zh-CN" sz="880" b="1" dirty="0">
                  <a:solidFill>
                    <a:srgbClr val="262626"/>
                  </a:solidFill>
                  <a:latin typeface="-apple-system"/>
                </a:rPr>
                <a:t> </a:t>
              </a:r>
              <a:r>
                <a:rPr lang="de-DE" altLang="zh-CN" sz="880" b="1" dirty="0" err="1">
                  <a:solidFill>
                    <a:srgbClr val="262626"/>
                  </a:solidFill>
                  <a:latin typeface="-apple-system"/>
                </a:rPr>
                <a:t>of</a:t>
              </a:r>
              <a:r>
                <a:rPr lang="de-DE" altLang="zh-CN" sz="880" b="1" dirty="0">
                  <a:solidFill>
                    <a:srgbClr val="262626"/>
                  </a:solidFill>
                  <a:latin typeface="-apple-system"/>
                </a:rPr>
                <a:t> </a:t>
              </a:r>
              <a:r>
                <a:rPr lang="de-DE" altLang="zh-CN" sz="880" b="1" dirty="0" err="1">
                  <a:solidFill>
                    <a:srgbClr val="262626"/>
                  </a:solidFill>
                  <a:latin typeface="-apple-system"/>
                </a:rPr>
                <a:t>substitutes</a:t>
              </a:r>
              <a:r>
                <a:rPr lang="de-DE" altLang="zh-CN" sz="880" b="1" dirty="0">
                  <a:solidFill>
                    <a:srgbClr val="262626"/>
                  </a:solidFill>
                  <a:latin typeface="-apple-system"/>
                </a:rPr>
                <a:t> </a:t>
              </a:r>
              <a:r>
                <a:rPr lang="de-DE" altLang="zh-CN" sz="880" b="1" dirty="0" err="1">
                  <a:solidFill>
                    <a:srgbClr val="262626"/>
                  </a:solidFill>
                  <a:latin typeface="-apple-system"/>
                </a:rPr>
                <a:t>is</a:t>
              </a:r>
              <a:r>
                <a:rPr lang="de-DE" altLang="zh-CN" sz="880" b="1" dirty="0">
                  <a:solidFill>
                    <a:srgbClr val="262626"/>
                  </a:solidFill>
                  <a:latin typeface="-apple-system"/>
                </a:rPr>
                <a:t> high, </a:t>
              </a:r>
              <a:r>
                <a:rPr lang="de-DE" altLang="zh-CN" sz="880" b="1" dirty="0" err="1">
                  <a:solidFill>
                    <a:srgbClr val="262626"/>
                  </a:solidFill>
                  <a:latin typeface="-apple-system"/>
                </a:rPr>
                <a:t>especially</a:t>
              </a:r>
              <a:r>
                <a:rPr lang="de-DE" altLang="zh-CN" sz="880" b="1" dirty="0">
                  <a:solidFill>
                    <a:srgbClr val="262626"/>
                  </a:solidFill>
                  <a:latin typeface="-apple-system"/>
                </a:rPr>
                <a:t> in </a:t>
              </a:r>
              <a:r>
                <a:rPr lang="de-DE" altLang="zh-CN" sz="880" b="1" dirty="0" err="1">
                  <a:solidFill>
                    <a:srgbClr val="262626"/>
                  </a:solidFill>
                  <a:latin typeface="-apple-system"/>
                </a:rPr>
                <a:t>the</a:t>
              </a:r>
              <a:r>
                <a:rPr lang="de-DE" altLang="zh-CN" sz="880" b="1" dirty="0">
                  <a:solidFill>
                    <a:srgbClr val="262626"/>
                  </a:solidFill>
                  <a:latin typeface="-apple-system"/>
                </a:rPr>
                <a:t> </a:t>
              </a:r>
              <a:r>
                <a:rPr lang="de-DE" altLang="zh-CN" sz="880" b="1" dirty="0" err="1">
                  <a:solidFill>
                    <a:srgbClr val="262626"/>
                  </a:solidFill>
                  <a:latin typeface="-apple-system"/>
                </a:rPr>
                <a:t>globally</a:t>
              </a:r>
              <a:r>
                <a:rPr lang="de-DE" altLang="zh-CN" sz="880" b="1" dirty="0">
                  <a:solidFill>
                    <a:srgbClr val="262626"/>
                  </a:solidFill>
                  <a:latin typeface="-apple-system"/>
                </a:rPr>
                <a:t> </a:t>
              </a:r>
              <a:r>
                <a:rPr lang="de-DE" altLang="zh-CN" sz="880" b="1" dirty="0" err="1">
                  <a:solidFill>
                    <a:srgbClr val="262626"/>
                  </a:solidFill>
                  <a:latin typeface="-apple-system"/>
                </a:rPr>
                <a:t>diversified</a:t>
              </a:r>
              <a:r>
                <a:rPr lang="de-DE" altLang="zh-CN" sz="880" b="1" dirty="0">
                  <a:solidFill>
                    <a:srgbClr val="262626"/>
                  </a:solidFill>
                  <a:latin typeface="-apple-system"/>
                </a:rPr>
                <a:t> plant-</a:t>
              </a:r>
              <a:r>
                <a:rPr lang="de-DE" altLang="zh-CN" sz="880" b="1" dirty="0" err="1">
                  <a:solidFill>
                    <a:srgbClr val="262626"/>
                  </a:solidFill>
                  <a:latin typeface="-apple-system"/>
                </a:rPr>
                <a:t>based</a:t>
              </a:r>
              <a:r>
                <a:rPr lang="de-DE" altLang="zh-CN" sz="880" b="1" dirty="0">
                  <a:solidFill>
                    <a:srgbClr val="262626"/>
                  </a:solidFill>
                  <a:latin typeface="-apple-system"/>
                </a:rPr>
                <a:t> </a:t>
              </a:r>
              <a:r>
                <a:rPr lang="de-DE" altLang="zh-CN" sz="880" b="1" dirty="0" err="1">
                  <a:solidFill>
                    <a:srgbClr val="262626"/>
                  </a:solidFill>
                  <a:latin typeface="-apple-system"/>
                </a:rPr>
                <a:t>dairy</a:t>
              </a:r>
              <a:r>
                <a:rPr lang="de-DE" altLang="zh-CN" sz="880" b="1" dirty="0">
                  <a:solidFill>
                    <a:srgbClr val="262626"/>
                  </a:solidFill>
                  <a:latin typeface="-apple-system"/>
                </a:rPr>
                <a:t> </a:t>
              </a:r>
              <a:r>
                <a:rPr lang="de-DE" altLang="zh-CN" sz="880" b="1" dirty="0" err="1">
                  <a:solidFill>
                    <a:srgbClr val="262626"/>
                  </a:solidFill>
                  <a:latin typeface="-apple-system"/>
                </a:rPr>
                <a:t>market</a:t>
              </a:r>
              <a:r>
                <a:rPr lang="de-DE" altLang="zh-CN" sz="880" b="1" dirty="0">
                  <a:solidFill>
                    <a:srgbClr val="262626"/>
                  </a:solidFill>
                  <a:latin typeface="-apple-system"/>
                </a:rPr>
                <a:t>.</a:t>
              </a:r>
              <a:endParaRPr lang="es-ES" altLang="en-US" sz="880" b="1" dirty="0">
                <a:latin typeface="Georgia Pro Light" panose="02040302050405020303" pitchFamily="18" charset="0"/>
              </a:endParaRPr>
            </a:p>
          </p:txBody>
        </p:sp>
      </p:grpSp>
      <p:grpSp>
        <p:nvGrpSpPr>
          <p:cNvPr id="55" name="Group 54">
            <a:extLst>
              <a:ext uri="{FF2B5EF4-FFF2-40B4-BE49-F238E27FC236}">
                <a16:creationId xmlns:a16="http://schemas.microsoft.com/office/drawing/2014/main" id="{15E2D1C4-14C3-40FE-BACC-8418993EF4CC}"/>
              </a:ext>
            </a:extLst>
          </p:cNvPr>
          <p:cNvGrpSpPr/>
          <p:nvPr/>
        </p:nvGrpSpPr>
        <p:grpSpPr>
          <a:xfrm>
            <a:off x="6022747" y="1129912"/>
            <a:ext cx="1376669" cy="2023695"/>
            <a:chOff x="7436177" y="1349871"/>
            <a:chExt cx="1720836" cy="2529619"/>
          </a:xfrm>
        </p:grpSpPr>
        <p:sp>
          <p:nvSpPr>
            <p:cNvPr id="7" name="矩形 64">
              <a:extLst>
                <a:ext uri="{FF2B5EF4-FFF2-40B4-BE49-F238E27FC236}">
                  <a16:creationId xmlns:a16="http://schemas.microsoft.com/office/drawing/2014/main" id="{FAC46044-BB2B-4060-86A5-816BBB088FC8}"/>
                </a:ext>
              </a:extLst>
            </p:cNvPr>
            <p:cNvSpPr/>
            <p:nvPr/>
          </p:nvSpPr>
          <p:spPr>
            <a:xfrm>
              <a:off x="7529934" y="2394776"/>
              <a:ext cx="1484585" cy="300083"/>
            </a:xfrm>
            <a:prstGeom prst="rect">
              <a:avLst/>
            </a:prstGeom>
          </p:spPr>
          <p:txBody>
            <a:bodyPr wrap="square">
              <a:spAutoFit/>
            </a:bodyPr>
            <a:lstStyle/>
            <a:p>
              <a:pPr>
                <a:spcAft>
                  <a:spcPts val="960"/>
                </a:spcAft>
              </a:pPr>
              <a:r>
                <a:rPr lang="de-DE" altLang="zh-CN" sz="960" b="1" dirty="0">
                  <a:solidFill>
                    <a:srgbClr val="262626"/>
                  </a:solidFill>
                  <a:latin typeface="-apple-system"/>
                </a:rPr>
                <a:t>Industry </a:t>
              </a:r>
              <a:r>
                <a:rPr lang="de-DE" altLang="zh-CN" sz="960" b="1" dirty="0" err="1">
                  <a:solidFill>
                    <a:srgbClr val="262626"/>
                  </a:solidFill>
                  <a:latin typeface="-apple-system"/>
                </a:rPr>
                <a:t>Rivalry</a:t>
              </a:r>
              <a:endParaRPr lang="de-DE" altLang="zh-CN" sz="960" b="1" dirty="0">
                <a:solidFill>
                  <a:srgbClr val="262626"/>
                </a:solidFill>
                <a:latin typeface="-apple-system"/>
              </a:endParaRPr>
            </a:p>
          </p:txBody>
        </p:sp>
        <p:grpSp>
          <p:nvGrpSpPr>
            <p:cNvPr id="24" name="Group 173">
              <a:extLst>
                <a:ext uri="{FF2B5EF4-FFF2-40B4-BE49-F238E27FC236}">
                  <a16:creationId xmlns:a16="http://schemas.microsoft.com/office/drawing/2014/main" id="{947DB903-941A-4B6B-98B3-1BE469AF3F62}"/>
                </a:ext>
              </a:extLst>
            </p:cNvPr>
            <p:cNvGrpSpPr/>
            <p:nvPr/>
          </p:nvGrpSpPr>
          <p:grpSpPr>
            <a:xfrm>
              <a:off x="8045613" y="1349871"/>
              <a:ext cx="453228" cy="508730"/>
              <a:chOff x="4856163" y="3600451"/>
              <a:chExt cx="358775" cy="402710"/>
            </a:xfrm>
            <a:solidFill>
              <a:srgbClr val="FFFFFF"/>
            </a:solidFill>
          </p:grpSpPr>
          <p:sp>
            <p:nvSpPr>
              <p:cNvPr id="31" name="Freeform 148">
                <a:extLst>
                  <a:ext uri="{FF2B5EF4-FFF2-40B4-BE49-F238E27FC236}">
                    <a16:creationId xmlns:a16="http://schemas.microsoft.com/office/drawing/2014/main" id="{9A74170B-5EA6-47E8-B6EA-6B0F1876249F}"/>
                  </a:ext>
                </a:extLst>
              </p:cNvPr>
              <p:cNvSpPr>
                <a:spLocks noEditPoints="1"/>
              </p:cNvSpPr>
              <p:nvPr/>
            </p:nvSpPr>
            <p:spPr bwMode="auto">
              <a:xfrm>
                <a:off x="5103813" y="3692526"/>
                <a:ext cx="68263" cy="310635"/>
              </a:xfrm>
              <a:custGeom>
                <a:avLst/>
                <a:gdLst/>
                <a:ahLst/>
                <a:cxnLst>
                  <a:cxn ang="0">
                    <a:pos x="11" y="2"/>
                  </a:cxn>
                  <a:cxn ang="0">
                    <a:pos x="7" y="0"/>
                  </a:cxn>
                  <a:cxn ang="0">
                    <a:pos x="4" y="0"/>
                  </a:cxn>
                  <a:cxn ang="0">
                    <a:pos x="0" y="4"/>
                  </a:cxn>
                  <a:cxn ang="0">
                    <a:pos x="0" y="27"/>
                  </a:cxn>
                  <a:cxn ang="0">
                    <a:pos x="4" y="31"/>
                  </a:cxn>
                  <a:cxn ang="0">
                    <a:pos x="19" y="31"/>
                  </a:cxn>
                  <a:cxn ang="0">
                    <a:pos x="23" y="27"/>
                  </a:cxn>
                  <a:cxn ang="0">
                    <a:pos x="23" y="21"/>
                  </a:cxn>
                  <a:cxn ang="0">
                    <a:pos x="22" y="19"/>
                  </a:cxn>
                  <a:cxn ang="0">
                    <a:pos x="11" y="2"/>
                  </a:cxn>
                  <a:cxn ang="0">
                    <a:pos x="19" y="27"/>
                  </a:cxn>
                  <a:cxn ang="0">
                    <a:pos x="4" y="27"/>
                  </a:cxn>
                  <a:cxn ang="0">
                    <a:pos x="4" y="4"/>
                  </a:cxn>
                  <a:cxn ang="0">
                    <a:pos x="7" y="4"/>
                  </a:cxn>
                  <a:cxn ang="0">
                    <a:pos x="19" y="21"/>
                  </a:cxn>
                  <a:cxn ang="0">
                    <a:pos x="19" y="27"/>
                  </a:cxn>
                  <a:cxn ang="0">
                    <a:pos x="19" y="27"/>
                  </a:cxn>
                  <a:cxn ang="0">
                    <a:pos x="19" y="27"/>
                  </a:cxn>
                </a:cxnLst>
                <a:rect l="0" t="0" r="r" b="b"/>
                <a:pathLst>
                  <a:path w="23" h="31">
                    <a:moveTo>
                      <a:pt x="11" y="2"/>
                    </a:moveTo>
                    <a:cubicBezTo>
                      <a:pt x="10" y="1"/>
                      <a:pt x="9" y="0"/>
                      <a:pt x="7" y="0"/>
                    </a:cubicBezTo>
                    <a:cubicBezTo>
                      <a:pt x="4" y="0"/>
                      <a:pt x="4" y="0"/>
                      <a:pt x="4" y="0"/>
                    </a:cubicBezTo>
                    <a:cubicBezTo>
                      <a:pt x="1" y="0"/>
                      <a:pt x="0" y="2"/>
                      <a:pt x="0" y="4"/>
                    </a:cubicBezTo>
                    <a:cubicBezTo>
                      <a:pt x="0" y="27"/>
                      <a:pt x="0" y="27"/>
                      <a:pt x="0" y="27"/>
                    </a:cubicBezTo>
                    <a:cubicBezTo>
                      <a:pt x="0" y="29"/>
                      <a:pt x="1" y="31"/>
                      <a:pt x="4" y="31"/>
                    </a:cubicBezTo>
                    <a:cubicBezTo>
                      <a:pt x="19" y="31"/>
                      <a:pt x="19" y="31"/>
                      <a:pt x="19" y="31"/>
                    </a:cubicBezTo>
                    <a:cubicBezTo>
                      <a:pt x="21" y="31"/>
                      <a:pt x="23" y="29"/>
                      <a:pt x="23" y="27"/>
                    </a:cubicBezTo>
                    <a:cubicBezTo>
                      <a:pt x="23" y="21"/>
                      <a:pt x="23" y="21"/>
                      <a:pt x="23" y="21"/>
                    </a:cubicBezTo>
                    <a:cubicBezTo>
                      <a:pt x="23" y="20"/>
                      <a:pt x="23" y="20"/>
                      <a:pt x="22" y="19"/>
                    </a:cubicBezTo>
                    <a:lnTo>
                      <a:pt x="11" y="2"/>
                    </a:lnTo>
                    <a:close/>
                    <a:moveTo>
                      <a:pt x="19" y="27"/>
                    </a:moveTo>
                    <a:cubicBezTo>
                      <a:pt x="4" y="27"/>
                      <a:pt x="4" y="27"/>
                      <a:pt x="4" y="27"/>
                    </a:cubicBezTo>
                    <a:cubicBezTo>
                      <a:pt x="4" y="4"/>
                      <a:pt x="4" y="4"/>
                      <a:pt x="4" y="4"/>
                    </a:cubicBezTo>
                    <a:cubicBezTo>
                      <a:pt x="7" y="4"/>
                      <a:pt x="7" y="4"/>
                      <a:pt x="7" y="4"/>
                    </a:cubicBezTo>
                    <a:cubicBezTo>
                      <a:pt x="19" y="21"/>
                      <a:pt x="19" y="21"/>
                      <a:pt x="19" y="21"/>
                    </a:cubicBezTo>
                    <a:lnTo>
                      <a:pt x="19" y="27"/>
                    </a:lnTo>
                    <a:close/>
                    <a:moveTo>
                      <a:pt x="19" y="27"/>
                    </a:moveTo>
                    <a:cubicBezTo>
                      <a:pt x="19" y="27"/>
                      <a:pt x="19" y="27"/>
                      <a:pt x="19" y="27"/>
                    </a:cubicBezTo>
                  </a:path>
                </a:pathLst>
              </a:custGeom>
              <a:grpFill/>
              <a:ln w="9525">
                <a:noFill/>
                <a:round/>
                <a:headEnd/>
                <a:tailEnd/>
              </a:ln>
            </p:spPr>
            <p:txBody>
              <a:bodyPr>
                <a:spAutoFit/>
              </a:bodyPr>
              <a:lstStyle/>
              <a:p>
                <a:pPr>
                  <a:defRPr/>
                </a:pPr>
                <a:endParaRPr lang="en-US" sz="1440"/>
              </a:p>
            </p:txBody>
          </p:sp>
          <p:sp>
            <p:nvSpPr>
              <p:cNvPr id="32" name="Freeform 149">
                <a:extLst>
                  <a:ext uri="{FF2B5EF4-FFF2-40B4-BE49-F238E27FC236}">
                    <a16:creationId xmlns:a16="http://schemas.microsoft.com/office/drawing/2014/main" id="{CED410B8-7D49-4F4A-B38A-C8037A0C3394}"/>
                  </a:ext>
                </a:extLst>
              </p:cNvPr>
              <p:cNvSpPr>
                <a:spLocks noEditPoints="1"/>
              </p:cNvSpPr>
              <p:nvPr/>
            </p:nvSpPr>
            <p:spPr bwMode="auto">
              <a:xfrm>
                <a:off x="4856163" y="3600451"/>
                <a:ext cx="358775" cy="310635"/>
              </a:xfrm>
              <a:custGeom>
                <a:avLst/>
                <a:gdLst/>
                <a:ahLst/>
                <a:cxnLst>
                  <a:cxn ang="0">
                    <a:pos x="121" y="48"/>
                  </a:cxn>
                  <a:cxn ang="0">
                    <a:pos x="106" y="25"/>
                  </a:cxn>
                  <a:cxn ang="0">
                    <a:pos x="96" y="20"/>
                  </a:cxn>
                  <a:cxn ang="0">
                    <a:pos x="81" y="20"/>
                  </a:cxn>
                  <a:cxn ang="0">
                    <a:pos x="81" y="12"/>
                  </a:cxn>
                  <a:cxn ang="0">
                    <a:pos x="69" y="0"/>
                  </a:cxn>
                  <a:cxn ang="0">
                    <a:pos x="12" y="0"/>
                  </a:cxn>
                  <a:cxn ang="0">
                    <a:pos x="0" y="12"/>
                  </a:cxn>
                  <a:cxn ang="0">
                    <a:pos x="0" y="54"/>
                  </a:cxn>
                  <a:cxn ang="0">
                    <a:pos x="12" y="66"/>
                  </a:cxn>
                  <a:cxn ang="0">
                    <a:pos x="12" y="77"/>
                  </a:cxn>
                  <a:cxn ang="0">
                    <a:pos x="23" y="89"/>
                  </a:cxn>
                  <a:cxn ang="0">
                    <a:pos x="28" y="89"/>
                  </a:cxn>
                  <a:cxn ang="0">
                    <a:pos x="43" y="100"/>
                  </a:cxn>
                  <a:cxn ang="0">
                    <a:pos x="57" y="89"/>
                  </a:cxn>
                  <a:cxn ang="0">
                    <a:pos x="78" y="89"/>
                  </a:cxn>
                  <a:cxn ang="0">
                    <a:pos x="92" y="100"/>
                  </a:cxn>
                  <a:cxn ang="0">
                    <a:pos x="107" y="89"/>
                  </a:cxn>
                  <a:cxn ang="0">
                    <a:pos x="112" y="89"/>
                  </a:cxn>
                  <a:cxn ang="0">
                    <a:pos x="123" y="77"/>
                  </a:cxn>
                  <a:cxn ang="0">
                    <a:pos x="123" y="54"/>
                  </a:cxn>
                  <a:cxn ang="0">
                    <a:pos x="121" y="48"/>
                  </a:cxn>
                  <a:cxn ang="0">
                    <a:pos x="12" y="58"/>
                  </a:cxn>
                  <a:cxn ang="0">
                    <a:pos x="8" y="54"/>
                  </a:cxn>
                  <a:cxn ang="0">
                    <a:pos x="8" y="12"/>
                  </a:cxn>
                  <a:cxn ang="0">
                    <a:pos x="12" y="8"/>
                  </a:cxn>
                  <a:cxn ang="0">
                    <a:pos x="69" y="8"/>
                  </a:cxn>
                  <a:cxn ang="0">
                    <a:pos x="73" y="12"/>
                  </a:cxn>
                  <a:cxn ang="0">
                    <a:pos x="73" y="54"/>
                  </a:cxn>
                  <a:cxn ang="0">
                    <a:pos x="69" y="58"/>
                  </a:cxn>
                  <a:cxn ang="0">
                    <a:pos x="12" y="58"/>
                  </a:cxn>
                  <a:cxn ang="0">
                    <a:pos x="43" y="93"/>
                  </a:cxn>
                  <a:cxn ang="0">
                    <a:pos x="35" y="85"/>
                  </a:cxn>
                  <a:cxn ang="0">
                    <a:pos x="43" y="77"/>
                  </a:cxn>
                  <a:cxn ang="0">
                    <a:pos x="50" y="85"/>
                  </a:cxn>
                  <a:cxn ang="0">
                    <a:pos x="43" y="93"/>
                  </a:cxn>
                  <a:cxn ang="0">
                    <a:pos x="92" y="93"/>
                  </a:cxn>
                  <a:cxn ang="0">
                    <a:pos x="85" y="85"/>
                  </a:cxn>
                  <a:cxn ang="0">
                    <a:pos x="92" y="77"/>
                  </a:cxn>
                  <a:cxn ang="0">
                    <a:pos x="100" y="85"/>
                  </a:cxn>
                  <a:cxn ang="0">
                    <a:pos x="92" y="93"/>
                  </a:cxn>
                  <a:cxn ang="0">
                    <a:pos x="115" y="77"/>
                  </a:cxn>
                  <a:cxn ang="0">
                    <a:pos x="112" y="81"/>
                  </a:cxn>
                  <a:cxn ang="0">
                    <a:pos x="107" y="81"/>
                  </a:cxn>
                  <a:cxn ang="0">
                    <a:pos x="92" y="70"/>
                  </a:cxn>
                  <a:cxn ang="0">
                    <a:pos x="78" y="81"/>
                  </a:cxn>
                  <a:cxn ang="0">
                    <a:pos x="57" y="81"/>
                  </a:cxn>
                  <a:cxn ang="0">
                    <a:pos x="43" y="70"/>
                  </a:cxn>
                  <a:cxn ang="0">
                    <a:pos x="28" y="81"/>
                  </a:cxn>
                  <a:cxn ang="0">
                    <a:pos x="23" y="81"/>
                  </a:cxn>
                  <a:cxn ang="0">
                    <a:pos x="20" y="77"/>
                  </a:cxn>
                  <a:cxn ang="0">
                    <a:pos x="20" y="66"/>
                  </a:cxn>
                  <a:cxn ang="0">
                    <a:pos x="69" y="66"/>
                  </a:cxn>
                  <a:cxn ang="0">
                    <a:pos x="81" y="54"/>
                  </a:cxn>
                  <a:cxn ang="0">
                    <a:pos x="81" y="27"/>
                  </a:cxn>
                  <a:cxn ang="0">
                    <a:pos x="96" y="27"/>
                  </a:cxn>
                  <a:cxn ang="0">
                    <a:pos x="99" y="29"/>
                  </a:cxn>
                  <a:cxn ang="0">
                    <a:pos x="115" y="52"/>
                  </a:cxn>
                  <a:cxn ang="0">
                    <a:pos x="115" y="54"/>
                  </a:cxn>
                  <a:cxn ang="0">
                    <a:pos x="115" y="77"/>
                  </a:cxn>
                  <a:cxn ang="0">
                    <a:pos x="115" y="77"/>
                  </a:cxn>
                  <a:cxn ang="0">
                    <a:pos x="115" y="77"/>
                  </a:cxn>
                </a:cxnLst>
                <a:rect l="0" t="0" r="r" b="b"/>
                <a:pathLst>
                  <a:path w="123" h="100">
                    <a:moveTo>
                      <a:pt x="121" y="48"/>
                    </a:moveTo>
                    <a:cubicBezTo>
                      <a:pt x="106" y="25"/>
                      <a:pt x="106" y="25"/>
                      <a:pt x="106" y="25"/>
                    </a:cubicBezTo>
                    <a:cubicBezTo>
                      <a:pt x="104" y="22"/>
                      <a:pt x="100" y="20"/>
                      <a:pt x="96" y="20"/>
                    </a:cubicBezTo>
                    <a:cubicBezTo>
                      <a:pt x="81" y="20"/>
                      <a:pt x="81" y="20"/>
                      <a:pt x="81" y="20"/>
                    </a:cubicBezTo>
                    <a:cubicBezTo>
                      <a:pt x="81" y="12"/>
                      <a:pt x="81" y="12"/>
                      <a:pt x="81" y="12"/>
                    </a:cubicBezTo>
                    <a:cubicBezTo>
                      <a:pt x="81" y="6"/>
                      <a:pt x="76" y="0"/>
                      <a:pt x="69" y="0"/>
                    </a:cubicBezTo>
                    <a:cubicBezTo>
                      <a:pt x="12" y="0"/>
                      <a:pt x="12" y="0"/>
                      <a:pt x="12" y="0"/>
                    </a:cubicBezTo>
                    <a:cubicBezTo>
                      <a:pt x="6" y="0"/>
                      <a:pt x="0" y="6"/>
                      <a:pt x="0" y="12"/>
                    </a:cubicBezTo>
                    <a:cubicBezTo>
                      <a:pt x="0" y="54"/>
                      <a:pt x="0" y="54"/>
                      <a:pt x="0" y="54"/>
                    </a:cubicBezTo>
                    <a:cubicBezTo>
                      <a:pt x="0" y="61"/>
                      <a:pt x="6" y="66"/>
                      <a:pt x="12" y="66"/>
                    </a:cubicBezTo>
                    <a:cubicBezTo>
                      <a:pt x="12" y="77"/>
                      <a:pt x="12" y="77"/>
                      <a:pt x="12" y="77"/>
                    </a:cubicBezTo>
                    <a:cubicBezTo>
                      <a:pt x="12" y="84"/>
                      <a:pt x="17" y="89"/>
                      <a:pt x="23" y="89"/>
                    </a:cubicBezTo>
                    <a:cubicBezTo>
                      <a:pt x="28" y="89"/>
                      <a:pt x="28" y="89"/>
                      <a:pt x="28" y="89"/>
                    </a:cubicBezTo>
                    <a:cubicBezTo>
                      <a:pt x="30" y="95"/>
                      <a:pt x="35" y="100"/>
                      <a:pt x="43" y="100"/>
                    </a:cubicBezTo>
                    <a:cubicBezTo>
                      <a:pt x="50" y="100"/>
                      <a:pt x="56" y="95"/>
                      <a:pt x="57" y="89"/>
                    </a:cubicBezTo>
                    <a:cubicBezTo>
                      <a:pt x="78" y="89"/>
                      <a:pt x="78" y="89"/>
                      <a:pt x="78" y="89"/>
                    </a:cubicBezTo>
                    <a:cubicBezTo>
                      <a:pt x="79" y="95"/>
                      <a:pt x="85" y="100"/>
                      <a:pt x="92" y="100"/>
                    </a:cubicBezTo>
                    <a:cubicBezTo>
                      <a:pt x="100" y="100"/>
                      <a:pt x="106" y="95"/>
                      <a:pt x="107" y="89"/>
                    </a:cubicBezTo>
                    <a:cubicBezTo>
                      <a:pt x="112" y="89"/>
                      <a:pt x="112" y="89"/>
                      <a:pt x="112" y="89"/>
                    </a:cubicBezTo>
                    <a:cubicBezTo>
                      <a:pt x="118" y="89"/>
                      <a:pt x="123" y="84"/>
                      <a:pt x="123" y="77"/>
                    </a:cubicBezTo>
                    <a:cubicBezTo>
                      <a:pt x="123" y="54"/>
                      <a:pt x="123" y="54"/>
                      <a:pt x="123" y="54"/>
                    </a:cubicBezTo>
                    <a:cubicBezTo>
                      <a:pt x="123" y="52"/>
                      <a:pt x="122" y="50"/>
                      <a:pt x="121" y="48"/>
                    </a:cubicBezTo>
                    <a:close/>
                    <a:moveTo>
                      <a:pt x="12" y="58"/>
                    </a:moveTo>
                    <a:cubicBezTo>
                      <a:pt x="10" y="58"/>
                      <a:pt x="8" y="56"/>
                      <a:pt x="8" y="54"/>
                    </a:cubicBezTo>
                    <a:cubicBezTo>
                      <a:pt x="8" y="12"/>
                      <a:pt x="8" y="12"/>
                      <a:pt x="8" y="12"/>
                    </a:cubicBezTo>
                    <a:cubicBezTo>
                      <a:pt x="8" y="10"/>
                      <a:pt x="10" y="8"/>
                      <a:pt x="12" y="8"/>
                    </a:cubicBezTo>
                    <a:cubicBezTo>
                      <a:pt x="69" y="8"/>
                      <a:pt x="69" y="8"/>
                      <a:pt x="69" y="8"/>
                    </a:cubicBezTo>
                    <a:cubicBezTo>
                      <a:pt x="72" y="8"/>
                      <a:pt x="73" y="10"/>
                      <a:pt x="73" y="12"/>
                    </a:cubicBezTo>
                    <a:cubicBezTo>
                      <a:pt x="73" y="54"/>
                      <a:pt x="73" y="54"/>
                      <a:pt x="73" y="54"/>
                    </a:cubicBezTo>
                    <a:cubicBezTo>
                      <a:pt x="73" y="56"/>
                      <a:pt x="72" y="58"/>
                      <a:pt x="69" y="58"/>
                    </a:cubicBezTo>
                    <a:lnTo>
                      <a:pt x="12" y="58"/>
                    </a:lnTo>
                    <a:close/>
                    <a:moveTo>
                      <a:pt x="43" y="93"/>
                    </a:moveTo>
                    <a:cubicBezTo>
                      <a:pt x="38" y="93"/>
                      <a:pt x="35" y="89"/>
                      <a:pt x="35" y="85"/>
                    </a:cubicBezTo>
                    <a:cubicBezTo>
                      <a:pt x="35" y="81"/>
                      <a:pt x="38" y="77"/>
                      <a:pt x="43" y="77"/>
                    </a:cubicBezTo>
                    <a:cubicBezTo>
                      <a:pt x="47" y="77"/>
                      <a:pt x="50" y="81"/>
                      <a:pt x="50" y="85"/>
                    </a:cubicBezTo>
                    <a:cubicBezTo>
                      <a:pt x="50" y="89"/>
                      <a:pt x="47" y="93"/>
                      <a:pt x="43" y="93"/>
                    </a:cubicBezTo>
                    <a:close/>
                    <a:moveTo>
                      <a:pt x="92" y="93"/>
                    </a:moveTo>
                    <a:cubicBezTo>
                      <a:pt x="88" y="93"/>
                      <a:pt x="85" y="89"/>
                      <a:pt x="85" y="85"/>
                    </a:cubicBezTo>
                    <a:cubicBezTo>
                      <a:pt x="85" y="81"/>
                      <a:pt x="88" y="77"/>
                      <a:pt x="92" y="77"/>
                    </a:cubicBezTo>
                    <a:cubicBezTo>
                      <a:pt x="97" y="77"/>
                      <a:pt x="100" y="81"/>
                      <a:pt x="100" y="85"/>
                    </a:cubicBezTo>
                    <a:cubicBezTo>
                      <a:pt x="100" y="89"/>
                      <a:pt x="97" y="93"/>
                      <a:pt x="92" y="93"/>
                    </a:cubicBezTo>
                    <a:close/>
                    <a:moveTo>
                      <a:pt x="115" y="77"/>
                    </a:moveTo>
                    <a:cubicBezTo>
                      <a:pt x="115" y="79"/>
                      <a:pt x="114" y="81"/>
                      <a:pt x="112" y="81"/>
                    </a:cubicBezTo>
                    <a:cubicBezTo>
                      <a:pt x="107" y="81"/>
                      <a:pt x="107" y="81"/>
                      <a:pt x="107" y="81"/>
                    </a:cubicBezTo>
                    <a:cubicBezTo>
                      <a:pt x="106" y="74"/>
                      <a:pt x="100" y="70"/>
                      <a:pt x="92" y="70"/>
                    </a:cubicBezTo>
                    <a:cubicBezTo>
                      <a:pt x="85" y="70"/>
                      <a:pt x="79" y="74"/>
                      <a:pt x="78" y="81"/>
                    </a:cubicBezTo>
                    <a:cubicBezTo>
                      <a:pt x="57" y="81"/>
                      <a:pt x="57" y="81"/>
                      <a:pt x="57" y="81"/>
                    </a:cubicBezTo>
                    <a:cubicBezTo>
                      <a:pt x="56" y="74"/>
                      <a:pt x="50" y="70"/>
                      <a:pt x="43" y="70"/>
                    </a:cubicBezTo>
                    <a:cubicBezTo>
                      <a:pt x="35" y="70"/>
                      <a:pt x="30" y="74"/>
                      <a:pt x="28" y="81"/>
                    </a:cubicBezTo>
                    <a:cubicBezTo>
                      <a:pt x="23" y="81"/>
                      <a:pt x="23" y="81"/>
                      <a:pt x="23" y="81"/>
                    </a:cubicBezTo>
                    <a:cubicBezTo>
                      <a:pt x="21" y="81"/>
                      <a:pt x="20" y="79"/>
                      <a:pt x="20" y="77"/>
                    </a:cubicBezTo>
                    <a:cubicBezTo>
                      <a:pt x="20" y="66"/>
                      <a:pt x="20" y="66"/>
                      <a:pt x="20" y="66"/>
                    </a:cubicBezTo>
                    <a:cubicBezTo>
                      <a:pt x="69" y="66"/>
                      <a:pt x="69" y="66"/>
                      <a:pt x="69" y="66"/>
                    </a:cubicBezTo>
                    <a:cubicBezTo>
                      <a:pt x="76" y="66"/>
                      <a:pt x="81" y="61"/>
                      <a:pt x="81" y="54"/>
                    </a:cubicBezTo>
                    <a:cubicBezTo>
                      <a:pt x="81" y="27"/>
                      <a:pt x="81" y="27"/>
                      <a:pt x="81" y="27"/>
                    </a:cubicBezTo>
                    <a:cubicBezTo>
                      <a:pt x="96" y="27"/>
                      <a:pt x="96" y="27"/>
                      <a:pt x="96" y="27"/>
                    </a:cubicBezTo>
                    <a:cubicBezTo>
                      <a:pt x="98" y="27"/>
                      <a:pt x="99" y="28"/>
                      <a:pt x="99" y="29"/>
                    </a:cubicBezTo>
                    <a:cubicBezTo>
                      <a:pt x="115" y="52"/>
                      <a:pt x="115" y="52"/>
                      <a:pt x="115" y="52"/>
                    </a:cubicBezTo>
                    <a:cubicBezTo>
                      <a:pt x="115" y="53"/>
                      <a:pt x="115" y="53"/>
                      <a:pt x="115" y="54"/>
                    </a:cubicBezTo>
                    <a:lnTo>
                      <a:pt x="115" y="77"/>
                    </a:lnTo>
                    <a:close/>
                    <a:moveTo>
                      <a:pt x="115" y="77"/>
                    </a:moveTo>
                    <a:cubicBezTo>
                      <a:pt x="115" y="77"/>
                      <a:pt x="115" y="77"/>
                      <a:pt x="115" y="77"/>
                    </a:cubicBezTo>
                  </a:path>
                </a:pathLst>
              </a:custGeom>
              <a:grpFill/>
              <a:ln w="9525">
                <a:noFill/>
                <a:round/>
                <a:headEnd/>
                <a:tailEnd/>
              </a:ln>
            </p:spPr>
            <p:txBody>
              <a:bodyPr>
                <a:spAutoFit/>
              </a:bodyPr>
              <a:lstStyle/>
              <a:p>
                <a:pPr>
                  <a:defRPr/>
                </a:pPr>
                <a:endParaRPr lang="en-US" sz="1440"/>
              </a:p>
            </p:txBody>
          </p:sp>
        </p:grpSp>
        <p:sp>
          <p:nvSpPr>
            <p:cNvPr id="37" name="Text Box 16">
              <a:extLst>
                <a:ext uri="{FF2B5EF4-FFF2-40B4-BE49-F238E27FC236}">
                  <a16:creationId xmlns:a16="http://schemas.microsoft.com/office/drawing/2014/main" id="{A6D67631-A1CC-4AC3-8E65-13642A5F91AF}"/>
                </a:ext>
              </a:extLst>
            </p:cNvPr>
            <p:cNvSpPr txBox="1">
              <a:spLocks noChangeArrowheads="1"/>
            </p:cNvSpPr>
            <p:nvPr/>
          </p:nvSpPr>
          <p:spPr bwMode="auto">
            <a:xfrm>
              <a:off x="7436177" y="2917688"/>
              <a:ext cx="1720836" cy="961802"/>
            </a:xfrm>
            <a:prstGeom prst="rect">
              <a:avLst/>
            </a:prstGeom>
            <a:noFill/>
            <a:ln w="12700">
              <a:noFill/>
              <a:miter lim="800000"/>
              <a:headEnd/>
              <a:tailEnd/>
            </a:ln>
          </p:spPr>
          <p:txBody>
            <a:bodyPr wrap="square">
              <a:spAutoFit/>
            </a:bodyPr>
            <a:lstStyle/>
            <a:p>
              <a:pPr fontAlgn="base">
                <a:spcBef>
                  <a:spcPct val="0"/>
                </a:spcBef>
                <a:spcAft>
                  <a:spcPct val="0"/>
                </a:spcAft>
                <a:buClr>
                  <a:schemeClr val="tx1"/>
                </a:buClr>
                <a:buSzPct val="100000"/>
              </a:pPr>
              <a:r>
                <a:rPr lang="de-DE" altLang="zh-CN" sz="880" b="1" dirty="0">
                  <a:solidFill>
                    <a:srgbClr val="262626"/>
                  </a:solidFill>
                  <a:latin typeface="-apple-system"/>
                </a:rPr>
                <a:t>Industry </a:t>
              </a:r>
              <a:r>
                <a:rPr lang="de-DE" altLang="zh-CN" sz="880" b="1" dirty="0" err="1">
                  <a:solidFill>
                    <a:srgbClr val="262626"/>
                  </a:solidFill>
                  <a:latin typeface="-apple-system"/>
                </a:rPr>
                <a:t>rivalry</a:t>
              </a:r>
              <a:r>
                <a:rPr lang="de-DE" altLang="zh-CN" sz="880" b="1" dirty="0">
                  <a:solidFill>
                    <a:srgbClr val="262626"/>
                  </a:solidFill>
                  <a:latin typeface="-apple-system"/>
                </a:rPr>
                <a:t> </a:t>
              </a:r>
              <a:r>
                <a:rPr lang="de-DE" altLang="zh-CN" sz="880" b="1" dirty="0" err="1">
                  <a:solidFill>
                    <a:srgbClr val="262626"/>
                  </a:solidFill>
                  <a:latin typeface="-apple-system"/>
                </a:rPr>
                <a:t>is</a:t>
              </a:r>
              <a:r>
                <a:rPr lang="de-DE" altLang="zh-CN" sz="880" b="1" dirty="0">
                  <a:solidFill>
                    <a:srgbClr val="262626"/>
                  </a:solidFill>
                  <a:latin typeface="-apple-system"/>
                </a:rPr>
                <a:t> </a:t>
              </a:r>
              <a:r>
                <a:rPr lang="de-DE" altLang="zh-CN" sz="880" b="1" dirty="0" err="1">
                  <a:solidFill>
                    <a:srgbClr val="262626"/>
                  </a:solidFill>
                  <a:latin typeface="-apple-system"/>
                </a:rPr>
                <a:t>very</a:t>
              </a:r>
              <a:r>
                <a:rPr lang="de-DE" altLang="zh-CN" sz="880" b="1" dirty="0">
                  <a:solidFill>
                    <a:srgbClr val="262626"/>
                  </a:solidFill>
                  <a:latin typeface="-apple-system"/>
                </a:rPr>
                <a:t> </a:t>
              </a:r>
              <a:r>
                <a:rPr lang="de-DE" altLang="zh-CN" sz="880" b="1" dirty="0" err="1">
                  <a:solidFill>
                    <a:srgbClr val="262626"/>
                  </a:solidFill>
                  <a:latin typeface="-apple-system"/>
                </a:rPr>
                <a:t>intense</a:t>
              </a:r>
              <a:r>
                <a:rPr lang="de-DE" altLang="zh-CN" sz="880" b="1" dirty="0">
                  <a:solidFill>
                    <a:srgbClr val="262626"/>
                  </a:solidFill>
                  <a:latin typeface="-apple-system"/>
                </a:rPr>
                <a:t>, </a:t>
              </a:r>
              <a:r>
                <a:rPr lang="de-DE" altLang="zh-CN" sz="880" b="1" dirty="0" err="1">
                  <a:solidFill>
                    <a:srgbClr val="262626"/>
                  </a:solidFill>
                  <a:latin typeface="-apple-system"/>
                </a:rPr>
                <a:t>especially</a:t>
              </a:r>
              <a:r>
                <a:rPr lang="de-DE" altLang="zh-CN" sz="880" b="1" dirty="0">
                  <a:solidFill>
                    <a:srgbClr val="262626"/>
                  </a:solidFill>
                  <a:latin typeface="-apple-system"/>
                </a:rPr>
                <a:t> in </a:t>
              </a:r>
              <a:r>
                <a:rPr lang="de-DE" altLang="zh-CN" sz="880" b="1" dirty="0" err="1">
                  <a:solidFill>
                    <a:srgbClr val="262626"/>
                  </a:solidFill>
                  <a:latin typeface="-apple-system"/>
                </a:rPr>
                <a:t>mature</a:t>
              </a:r>
              <a:r>
                <a:rPr lang="de-DE" altLang="zh-CN" sz="880" b="1" dirty="0">
                  <a:solidFill>
                    <a:srgbClr val="262626"/>
                  </a:solidFill>
                  <a:latin typeface="-apple-system"/>
                </a:rPr>
                <a:t> </a:t>
              </a:r>
              <a:r>
                <a:rPr lang="de-DE" altLang="zh-CN" sz="880" b="1" dirty="0" err="1">
                  <a:solidFill>
                    <a:srgbClr val="262626"/>
                  </a:solidFill>
                  <a:latin typeface="-apple-system"/>
                </a:rPr>
                <a:t>markets</a:t>
              </a:r>
              <a:r>
                <a:rPr lang="de-DE" altLang="zh-CN" sz="880" b="1" dirty="0">
                  <a:solidFill>
                    <a:srgbClr val="262626"/>
                  </a:solidFill>
                  <a:latin typeface="-apple-system"/>
                </a:rPr>
                <a:t> and </a:t>
              </a:r>
              <a:r>
                <a:rPr lang="de-DE" altLang="zh-CN" sz="880" b="1" dirty="0" err="1">
                  <a:solidFill>
                    <a:srgbClr val="262626"/>
                  </a:solidFill>
                  <a:latin typeface="-apple-system"/>
                </a:rPr>
                <a:t>rapidly</a:t>
              </a:r>
              <a:r>
                <a:rPr lang="de-DE" altLang="zh-CN" sz="880" b="1" dirty="0">
                  <a:solidFill>
                    <a:srgbClr val="262626"/>
                  </a:solidFill>
                  <a:latin typeface="-apple-system"/>
                </a:rPr>
                <a:t> </a:t>
              </a:r>
              <a:r>
                <a:rPr lang="de-DE" altLang="zh-CN" sz="880" b="1" dirty="0" err="1">
                  <a:solidFill>
                    <a:srgbClr val="262626"/>
                  </a:solidFill>
                  <a:latin typeface="-apple-system"/>
                </a:rPr>
                <a:t>growing</a:t>
              </a:r>
              <a:r>
                <a:rPr lang="de-DE" altLang="zh-CN" sz="880" b="1" dirty="0">
                  <a:solidFill>
                    <a:srgbClr val="262626"/>
                  </a:solidFill>
                  <a:latin typeface="-apple-system"/>
                </a:rPr>
                <a:t> </a:t>
              </a:r>
              <a:r>
                <a:rPr lang="de-DE" altLang="zh-CN" sz="880" b="1" dirty="0" err="1">
                  <a:solidFill>
                    <a:srgbClr val="262626"/>
                  </a:solidFill>
                  <a:latin typeface="-apple-system"/>
                </a:rPr>
                <a:t>emerging</a:t>
              </a:r>
              <a:r>
                <a:rPr lang="de-DE" altLang="zh-CN" sz="880" b="1" dirty="0">
                  <a:solidFill>
                    <a:srgbClr val="262626"/>
                  </a:solidFill>
                  <a:latin typeface="-apple-system"/>
                </a:rPr>
                <a:t> </a:t>
              </a:r>
              <a:r>
                <a:rPr lang="de-DE" altLang="zh-CN" sz="880" b="1" dirty="0" err="1">
                  <a:solidFill>
                    <a:srgbClr val="262626"/>
                  </a:solidFill>
                  <a:latin typeface="-apple-system"/>
                </a:rPr>
                <a:t>markets</a:t>
              </a:r>
              <a:r>
                <a:rPr lang="de-DE" altLang="zh-CN" sz="880" b="1" dirty="0">
                  <a:solidFill>
                    <a:srgbClr val="262626"/>
                  </a:solidFill>
                  <a:latin typeface="-apple-system"/>
                </a:rPr>
                <a:t>.</a:t>
              </a:r>
              <a:endParaRPr lang="es-ES" altLang="en-US" sz="880" b="1" dirty="0">
                <a:latin typeface="Georgia Pro Light" panose="02040302050405020303" pitchFamily="18" charset="0"/>
              </a:endParaRPr>
            </a:p>
          </p:txBody>
        </p:sp>
      </p:grpSp>
      <p:grpSp>
        <p:nvGrpSpPr>
          <p:cNvPr id="51" name="Group 50">
            <a:extLst>
              <a:ext uri="{FF2B5EF4-FFF2-40B4-BE49-F238E27FC236}">
                <a16:creationId xmlns:a16="http://schemas.microsoft.com/office/drawing/2014/main" id="{F730DF29-E8DC-41BB-84DB-3F79C5112C58}"/>
              </a:ext>
            </a:extLst>
          </p:cNvPr>
          <p:cNvGrpSpPr/>
          <p:nvPr/>
        </p:nvGrpSpPr>
        <p:grpSpPr>
          <a:xfrm>
            <a:off x="7825383" y="1189500"/>
            <a:ext cx="1376669" cy="1964107"/>
            <a:chOff x="9607590" y="1501674"/>
            <a:chExt cx="1720836" cy="2455134"/>
          </a:xfrm>
        </p:grpSpPr>
        <p:sp>
          <p:nvSpPr>
            <p:cNvPr id="8" name="矩形 65">
              <a:extLst>
                <a:ext uri="{FF2B5EF4-FFF2-40B4-BE49-F238E27FC236}">
                  <a16:creationId xmlns:a16="http://schemas.microsoft.com/office/drawing/2014/main" id="{C017504B-F256-4CA8-A1D7-79B6C800BC9D}"/>
                </a:ext>
              </a:extLst>
            </p:cNvPr>
            <p:cNvSpPr/>
            <p:nvPr/>
          </p:nvSpPr>
          <p:spPr>
            <a:xfrm>
              <a:off x="9622439" y="2474067"/>
              <a:ext cx="1705987" cy="300083"/>
            </a:xfrm>
            <a:prstGeom prst="rect">
              <a:avLst/>
            </a:prstGeom>
          </p:spPr>
          <p:txBody>
            <a:bodyPr wrap="square">
              <a:spAutoFit/>
            </a:bodyPr>
            <a:lstStyle/>
            <a:p>
              <a:pPr>
                <a:spcAft>
                  <a:spcPts val="960"/>
                </a:spcAft>
              </a:pPr>
              <a:r>
                <a:rPr lang="de-DE" altLang="zh-CN" sz="960" b="1" dirty="0" err="1">
                  <a:solidFill>
                    <a:srgbClr val="262626"/>
                  </a:solidFill>
                  <a:latin typeface="-apple-system"/>
                </a:rPr>
                <a:t>Threat</a:t>
              </a:r>
              <a:r>
                <a:rPr lang="de-DE" altLang="zh-CN" sz="960" b="1" dirty="0">
                  <a:solidFill>
                    <a:srgbClr val="262626"/>
                  </a:solidFill>
                  <a:latin typeface="-apple-system"/>
                </a:rPr>
                <a:t> </a:t>
              </a:r>
              <a:r>
                <a:rPr lang="de-DE" altLang="zh-CN" sz="960" b="1" dirty="0" err="1">
                  <a:solidFill>
                    <a:srgbClr val="262626"/>
                  </a:solidFill>
                  <a:latin typeface="-apple-system"/>
                </a:rPr>
                <a:t>of</a:t>
              </a:r>
              <a:r>
                <a:rPr lang="de-DE" altLang="zh-CN" sz="960" b="1" dirty="0">
                  <a:solidFill>
                    <a:srgbClr val="262626"/>
                  </a:solidFill>
                  <a:latin typeface="-apple-system"/>
                </a:rPr>
                <a:t> New </a:t>
              </a:r>
              <a:r>
                <a:rPr lang="de-DE" altLang="zh-CN" sz="960" b="1" dirty="0" err="1">
                  <a:solidFill>
                    <a:srgbClr val="262626"/>
                  </a:solidFill>
                  <a:latin typeface="-apple-system"/>
                </a:rPr>
                <a:t>Entrants</a:t>
              </a:r>
              <a:endParaRPr lang="de-DE" altLang="zh-CN" sz="960" b="1" dirty="0">
                <a:solidFill>
                  <a:srgbClr val="262626"/>
                </a:solidFill>
                <a:latin typeface="-apple-system"/>
              </a:endParaRPr>
            </a:p>
          </p:txBody>
        </p:sp>
        <p:grpSp>
          <p:nvGrpSpPr>
            <p:cNvPr id="25" name="Group 301">
              <a:extLst>
                <a:ext uri="{FF2B5EF4-FFF2-40B4-BE49-F238E27FC236}">
                  <a16:creationId xmlns:a16="http://schemas.microsoft.com/office/drawing/2014/main" id="{B7A55C15-CBC4-42FC-BEB8-47E2BC3DAFFD}"/>
                </a:ext>
              </a:extLst>
            </p:cNvPr>
            <p:cNvGrpSpPr/>
            <p:nvPr/>
          </p:nvGrpSpPr>
          <p:grpSpPr>
            <a:xfrm>
              <a:off x="10328725" y="1501674"/>
              <a:ext cx="315021" cy="192613"/>
              <a:chOff x="2065338" y="3860800"/>
              <a:chExt cx="277813" cy="169863"/>
            </a:xfrm>
            <a:solidFill>
              <a:srgbClr val="FFFFFF"/>
            </a:solidFill>
          </p:grpSpPr>
          <p:sp>
            <p:nvSpPr>
              <p:cNvPr id="26" name="Rectangle 160">
                <a:extLst>
                  <a:ext uri="{FF2B5EF4-FFF2-40B4-BE49-F238E27FC236}">
                    <a16:creationId xmlns:a16="http://schemas.microsoft.com/office/drawing/2014/main" id="{97383BB5-1F77-4EDA-8B00-BCEFBEB8A0C8}"/>
                  </a:ext>
                </a:extLst>
              </p:cNvPr>
              <p:cNvSpPr>
                <a:spLocks noChangeArrowheads="1"/>
              </p:cNvSpPr>
              <p:nvPr/>
            </p:nvSpPr>
            <p:spPr bwMode="auto">
              <a:xfrm>
                <a:off x="2065338" y="3973513"/>
                <a:ext cx="55563" cy="57150"/>
              </a:xfrm>
              <a:prstGeom prst="rect">
                <a:avLst/>
              </a:prstGeom>
              <a:grpFill/>
              <a:ln w="9525">
                <a:noFill/>
                <a:miter lim="800000"/>
                <a:headEnd/>
                <a:tailEnd/>
              </a:ln>
            </p:spPr>
            <p:txBody>
              <a:bodyPr/>
              <a:lstStyle/>
              <a:p>
                <a:pPr>
                  <a:defRPr/>
                </a:pPr>
                <a:endParaRPr lang="en-US" sz="1440"/>
              </a:p>
            </p:txBody>
          </p:sp>
          <p:sp>
            <p:nvSpPr>
              <p:cNvPr id="27" name="Rectangle 161">
                <a:extLst>
                  <a:ext uri="{FF2B5EF4-FFF2-40B4-BE49-F238E27FC236}">
                    <a16:creationId xmlns:a16="http://schemas.microsoft.com/office/drawing/2014/main" id="{3F31680E-06C3-43B4-8CE6-12919E1DCE94}"/>
                  </a:ext>
                </a:extLst>
              </p:cNvPr>
              <p:cNvSpPr>
                <a:spLocks noChangeArrowheads="1"/>
              </p:cNvSpPr>
              <p:nvPr/>
            </p:nvSpPr>
            <p:spPr bwMode="auto">
              <a:xfrm>
                <a:off x="2139950" y="3935413"/>
                <a:ext cx="55563" cy="95250"/>
              </a:xfrm>
              <a:prstGeom prst="rect">
                <a:avLst/>
              </a:prstGeom>
              <a:grpFill/>
              <a:ln w="9525">
                <a:noFill/>
                <a:miter lim="800000"/>
                <a:headEnd/>
                <a:tailEnd/>
              </a:ln>
            </p:spPr>
            <p:txBody>
              <a:bodyPr/>
              <a:lstStyle/>
              <a:p>
                <a:pPr>
                  <a:defRPr/>
                </a:pPr>
                <a:endParaRPr lang="en-US" sz="1440"/>
              </a:p>
            </p:txBody>
          </p:sp>
          <p:sp>
            <p:nvSpPr>
              <p:cNvPr id="28" name="Rectangle 162">
                <a:extLst>
                  <a:ext uri="{FF2B5EF4-FFF2-40B4-BE49-F238E27FC236}">
                    <a16:creationId xmlns:a16="http://schemas.microsoft.com/office/drawing/2014/main" id="{F7229ED7-F341-434B-AA64-C51811D35F40}"/>
                  </a:ext>
                </a:extLst>
              </p:cNvPr>
              <p:cNvSpPr>
                <a:spLocks noChangeArrowheads="1"/>
              </p:cNvSpPr>
              <p:nvPr/>
            </p:nvSpPr>
            <p:spPr bwMode="auto">
              <a:xfrm>
                <a:off x="2212975" y="3898900"/>
                <a:ext cx="57150" cy="131763"/>
              </a:xfrm>
              <a:prstGeom prst="rect">
                <a:avLst/>
              </a:prstGeom>
              <a:grpFill/>
              <a:ln w="9525">
                <a:noFill/>
                <a:miter lim="800000"/>
                <a:headEnd/>
                <a:tailEnd/>
              </a:ln>
            </p:spPr>
            <p:txBody>
              <a:bodyPr/>
              <a:lstStyle/>
              <a:p>
                <a:pPr>
                  <a:defRPr/>
                </a:pPr>
                <a:endParaRPr lang="en-US" sz="1440"/>
              </a:p>
            </p:txBody>
          </p:sp>
          <p:sp>
            <p:nvSpPr>
              <p:cNvPr id="29" name="Rectangle 163">
                <a:extLst>
                  <a:ext uri="{FF2B5EF4-FFF2-40B4-BE49-F238E27FC236}">
                    <a16:creationId xmlns:a16="http://schemas.microsoft.com/office/drawing/2014/main" id="{1DD11DB7-A9F6-493D-95EE-41B6B5DE0CED}"/>
                  </a:ext>
                </a:extLst>
              </p:cNvPr>
              <p:cNvSpPr>
                <a:spLocks noChangeArrowheads="1"/>
              </p:cNvSpPr>
              <p:nvPr/>
            </p:nvSpPr>
            <p:spPr bwMode="auto">
              <a:xfrm>
                <a:off x="2287588" y="3860800"/>
                <a:ext cx="55563" cy="169863"/>
              </a:xfrm>
              <a:prstGeom prst="rect">
                <a:avLst/>
              </a:prstGeom>
              <a:grpFill/>
              <a:ln w="9525">
                <a:noFill/>
                <a:miter lim="800000"/>
                <a:headEnd/>
                <a:tailEnd/>
              </a:ln>
            </p:spPr>
            <p:txBody>
              <a:bodyPr/>
              <a:lstStyle/>
              <a:p>
                <a:pPr>
                  <a:defRPr/>
                </a:pPr>
                <a:endParaRPr lang="en-US" sz="1440"/>
              </a:p>
            </p:txBody>
          </p:sp>
        </p:grpSp>
        <p:sp>
          <p:nvSpPr>
            <p:cNvPr id="38" name="Text Box 16">
              <a:extLst>
                <a:ext uri="{FF2B5EF4-FFF2-40B4-BE49-F238E27FC236}">
                  <a16:creationId xmlns:a16="http://schemas.microsoft.com/office/drawing/2014/main" id="{EC93101A-AEC5-4052-AD05-7FAB964CAD9E}"/>
                </a:ext>
              </a:extLst>
            </p:cNvPr>
            <p:cNvSpPr txBox="1">
              <a:spLocks noChangeArrowheads="1"/>
            </p:cNvSpPr>
            <p:nvPr/>
          </p:nvSpPr>
          <p:spPr bwMode="auto">
            <a:xfrm>
              <a:off x="9607590" y="2995007"/>
              <a:ext cx="1720836" cy="961801"/>
            </a:xfrm>
            <a:prstGeom prst="rect">
              <a:avLst/>
            </a:prstGeom>
            <a:noFill/>
            <a:ln w="12700">
              <a:noFill/>
              <a:miter lim="800000"/>
              <a:headEnd/>
              <a:tailEnd/>
            </a:ln>
          </p:spPr>
          <p:txBody>
            <a:bodyPr wrap="square">
              <a:spAutoFit/>
            </a:bodyPr>
            <a:lstStyle/>
            <a:p>
              <a:pPr fontAlgn="base">
                <a:spcBef>
                  <a:spcPct val="0"/>
                </a:spcBef>
                <a:spcAft>
                  <a:spcPct val="0"/>
                </a:spcAft>
                <a:buClr>
                  <a:schemeClr val="tx1"/>
                </a:buClr>
                <a:buSzPct val="100000"/>
              </a:pPr>
              <a:r>
                <a:rPr lang="de-DE" altLang="zh-CN" sz="880" b="1" dirty="0">
                  <a:solidFill>
                    <a:srgbClr val="262626"/>
                  </a:solidFill>
                  <a:latin typeface="-apple-system"/>
                </a:rPr>
                <a:t>The </a:t>
              </a:r>
              <a:r>
                <a:rPr lang="de-DE" altLang="zh-CN" sz="880" b="1" dirty="0" err="1">
                  <a:solidFill>
                    <a:srgbClr val="262626"/>
                  </a:solidFill>
                  <a:latin typeface="-apple-system"/>
                </a:rPr>
                <a:t>threat</a:t>
              </a:r>
              <a:r>
                <a:rPr lang="de-DE" altLang="zh-CN" sz="880" b="1" dirty="0">
                  <a:solidFill>
                    <a:srgbClr val="262626"/>
                  </a:solidFill>
                  <a:latin typeface="-apple-system"/>
                </a:rPr>
                <a:t> </a:t>
              </a:r>
              <a:r>
                <a:rPr lang="de-DE" altLang="zh-CN" sz="880" b="1" dirty="0" err="1">
                  <a:solidFill>
                    <a:srgbClr val="262626"/>
                  </a:solidFill>
                  <a:latin typeface="-apple-system"/>
                </a:rPr>
                <a:t>of</a:t>
              </a:r>
              <a:r>
                <a:rPr lang="de-DE" altLang="zh-CN" sz="880" b="1" dirty="0">
                  <a:solidFill>
                    <a:srgbClr val="262626"/>
                  </a:solidFill>
                  <a:latin typeface="-apple-system"/>
                </a:rPr>
                <a:t> </a:t>
              </a:r>
              <a:r>
                <a:rPr lang="de-DE" altLang="zh-CN" sz="880" b="1" dirty="0" err="1">
                  <a:solidFill>
                    <a:srgbClr val="262626"/>
                  </a:solidFill>
                  <a:latin typeface="-apple-system"/>
                </a:rPr>
                <a:t>new</a:t>
              </a:r>
              <a:r>
                <a:rPr lang="de-DE" altLang="zh-CN" sz="880" b="1" dirty="0">
                  <a:solidFill>
                    <a:srgbClr val="262626"/>
                  </a:solidFill>
                  <a:latin typeface="-apple-system"/>
                </a:rPr>
                <a:t> </a:t>
              </a:r>
              <a:r>
                <a:rPr lang="de-DE" altLang="zh-CN" sz="880" b="1" dirty="0" err="1">
                  <a:solidFill>
                    <a:srgbClr val="262626"/>
                  </a:solidFill>
                  <a:latin typeface="-apple-system"/>
                </a:rPr>
                <a:t>entrants</a:t>
              </a:r>
              <a:r>
                <a:rPr lang="de-DE" altLang="zh-CN" sz="880" b="1" dirty="0">
                  <a:solidFill>
                    <a:srgbClr val="262626"/>
                  </a:solidFill>
                  <a:latin typeface="-apple-system"/>
                </a:rPr>
                <a:t> </a:t>
              </a:r>
              <a:r>
                <a:rPr lang="de-DE" altLang="zh-CN" sz="880" b="1" dirty="0" err="1">
                  <a:solidFill>
                    <a:srgbClr val="262626"/>
                  </a:solidFill>
                  <a:latin typeface="-apple-system"/>
                </a:rPr>
                <a:t>is</a:t>
              </a:r>
              <a:r>
                <a:rPr lang="de-DE" altLang="zh-CN" sz="880" b="1" dirty="0">
                  <a:solidFill>
                    <a:srgbClr val="262626"/>
                  </a:solidFill>
                  <a:latin typeface="-apple-system"/>
                </a:rPr>
                <a:t> moderate, </a:t>
              </a:r>
              <a:r>
                <a:rPr lang="de-DE" altLang="zh-CN" sz="880" b="1" dirty="0" err="1">
                  <a:solidFill>
                    <a:srgbClr val="262626"/>
                  </a:solidFill>
                  <a:latin typeface="-apple-system"/>
                </a:rPr>
                <a:t>particularly</a:t>
              </a:r>
              <a:r>
                <a:rPr lang="de-DE" altLang="zh-CN" sz="880" b="1" dirty="0">
                  <a:solidFill>
                    <a:srgbClr val="262626"/>
                  </a:solidFill>
                  <a:latin typeface="-apple-system"/>
                </a:rPr>
                <a:t> </a:t>
              </a:r>
              <a:r>
                <a:rPr lang="de-DE" altLang="zh-CN" sz="880" b="1" dirty="0" err="1">
                  <a:solidFill>
                    <a:srgbClr val="262626"/>
                  </a:solidFill>
                  <a:latin typeface="-apple-system"/>
                </a:rPr>
                <a:t>more</a:t>
              </a:r>
              <a:r>
                <a:rPr lang="de-DE" altLang="zh-CN" sz="880" b="1" dirty="0">
                  <a:solidFill>
                    <a:srgbClr val="262626"/>
                  </a:solidFill>
                  <a:latin typeface="-apple-system"/>
                </a:rPr>
                <a:t> </a:t>
              </a:r>
              <a:r>
                <a:rPr lang="de-DE" altLang="zh-CN" sz="880" b="1" dirty="0" err="1">
                  <a:solidFill>
                    <a:srgbClr val="262626"/>
                  </a:solidFill>
                  <a:latin typeface="-apple-system"/>
                </a:rPr>
                <a:t>pronounced</a:t>
              </a:r>
              <a:r>
                <a:rPr lang="de-DE" altLang="zh-CN" sz="880" b="1" dirty="0">
                  <a:solidFill>
                    <a:srgbClr val="262626"/>
                  </a:solidFill>
                  <a:latin typeface="-apple-system"/>
                </a:rPr>
                <a:t> in </a:t>
              </a:r>
              <a:r>
                <a:rPr lang="de-DE" altLang="zh-CN" sz="880" b="1" dirty="0" err="1">
                  <a:solidFill>
                    <a:srgbClr val="262626"/>
                  </a:solidFill>
                  <a:latin typeface="-apple-system"/>
                </a:rPr>
                <a:t>emerging</a:t>
              </a:r>
              <a:r>
                <a:rPr lang="de-DE" altLang="zh-CN" sz="880" b="1" dirty="0">
                  <a:solidFill>
                    <a:srgbClr val="262626"/>
                  </a:solidFill>
                  <a:latin typeface="-apple-system"/>
                </a:rPr>
                <a:t> </a:t>
              </a:r>
              <a:r>
                <a:rPr lang="de-DE" altLang="zh-CN" sz="880" b="1" dirty="0" err="1">
                  <a:solidFill>
                    <a:srgbClr val="262626"/>
                  </a:solidFill>
                  <a:latin typeface="-apple-system"/>
                </a:rPr>
                <a:t>markets</a:t>
              </a:r>
              <a:r>
                <a:rPr lang="de-DE" altLang="zh-CN" sz="880" b="1" dirty="0">
                  <a:solidFill>
                    <a:srgbClr val="262626"/>
                  </a:solidFill>
                  <a:latin typeface="-apple-system"/>
                </a:rPr>
                <a:t>.</a:t>
              </a:r>
              <a:endParaRPr lang="es-ES" altLang="en-US" sz="880" b="1" dirty="0">
                <a:latin typeface="Georgia Pro Light" panose="02040302050405020303" pitchFamily="18" charset="0"/>
              </a:endParaRPr>
            </a:p>
          </p:txBody>
        </p:sp>
      </p:grpSp>
      <p:sp>
        <p:nvSpPr>
          <p:cNvPr id="59" name="TextBox 58">
            <a:extLst>
              <a:ext uri="{FF2B5EF4-FFF2-40B4-BE49-F238E27FC236}">
                <a16:creationId xmlns:a16="http://schemas.microsoft.com/office/drawing/2014/main" id="{E7586D36-2A3B-4E11-98D0-DB14F0983A54}"/>
              </a:ext>
            </a:extLst>
          </p:cNvPr>
          <p:cNvSpPr txBox="1"/>
          <p:nvPr/>
        </p:nvSpPr>
        <p:spPr>
          <a:xfrm>
            <a:off x="0" y="1037903"/>
            <a:ext cx="9753600" cy="461665"/>
          </a:xfrm>
          <a:prstGeom prst="rect">
            <a:avLst/>
          </a:prstGeom>
          <a:noFill/>
        </p:spPr>
        <p:txBody>
          <a:bodyPr wrap="square" rtlCol="0">
            <a:spAutoFit/>
          </a:bodyPr>
          <a:lstStyle/>
          <a:p>
            <a:pPr algn="ctr"/>
            <a:r>
              <a:rPr lang="en-US" altLang="zh-CN" sz="2400" dirty="0">
                <a:latin typeface="Georgia" panose="02040502050405020303" pitchFamily="18" charset="0"/>
                <a:ea typeface="Cambria" panose="02040503050406030204" pitchFamily="18" charset="0"/>
                <a:cs typeface="+mj-cs"/>
              </a:rPr>
              <a:t>Porter‘s</a:t>
            </a:r>
            <a:r>
              <a:rPr lang="zh-CN" altLang="en-US" sz="2400" dirty="0">
                <a:latin typeface="Georgia" panose="02040502050405020303" pitchFamily="18" charset="0"/>
                <a:ea typeface="Cambria" panose="02040503050406030204" pitchFamily="18" charset="0"/>
                <a:cs typeface="+mj-cs"/>
              </a:rPr>
              <a:t> </a:t>
            </a:r>
            <a:r>
              <a:rPr lang="en-US" altLang="zh-CN" sz="2400" dirty="0">
                <a:latin typeface="Georgia" panose="02040502050405020303" pitchFamily="18" charset="0"/>
                <a:ea typeface="Cambria" panose="02040503050406030204" pitchFamily="18" charset="0"/>
                <a:cs typeface="+mj-cs"/>
              </a:rPr>
              <a:t>Five</a:t>
            </a:r>
            <a:r>
              <a:rPr lang="zh-CN" altLang="en-US" sz="2400" dirty="0">
                <a:latin typeface="Georgia" panose="02040502050405020303" pitchFamily="18" charset="0"/>
                <a:ea typeface="Cambria" panose="02040503050406030204" pitchFamily="18" charset="0"/>
                <a:cs typeface="+mj-cs"/>
              </a:rPr>
              <a:t> </a:t>
            </a:r>
            <a:r>
              <a:rPr lang="en-US" altLang="zh-CN" sz="2400" dirty="0">
                <a:latin typeface="Georgia" panose="02040502050405020303" pitchFamily="18" charset="0"/>
                <a:ea typeface="Cambria" panose="02040503050406030204" pitchFamily="18" charset="0"/>
                <a:cs typeface="+mj-cs"/>
              </a:rPr>
              <a:t>Forces</a:t>
            </a:r>
            <a:endParaRPr lang="en-IN" sz="2400" dirty="0">
              <a:latin typeface="Georgia" panose="02040502050405020303" pitchFamily="18" charset="0"/>
              <a:ea typeface="Cambria" panose="02040503050406030204" pitchFamily="18" charset="0"/>
              <a:cs typeface="+mj-cs"/>
            </a:endParaRPr>
          </a:p>
        </p:txBody>
      </p:sp>
      <p:sp>
        <p:nvSpPr>
          <p:cNvPr id="46" name="文本框 45">
            <a:extLst>
              <a:ext uri="{FF2B5EF4-FFF2-40B4-BE49-F238E27FC236}">
                <a16:creationId xmlns:a16="http://schemas.microsoft.com/office/drawing/2014/main" id="{2E641CD1-966D-E07B-1059-D2C3A1242CF8}"/>
              </a:ext>
            </a:extLst>
          </p:cNvPr>
          <p:cNvSpPr txBox="1"/>
          <p:nvPr/>
        </p:nvSpPr>
        <p:spPr>
          <a:xfrm>
            <a:off x="6726804" y="4420925"/>
            <a:ext cx="184731" cy="313932"/>
          </a:xfrm>
          <a:prstGeom prst="rect">
            <a:avLst/>
          </a:prstGeom>
          <a:noFill/>
        </p:spPr>
        <p:txBody>
          <a:bodyPr wrap="none" rtlCol="0">
            <a:spAutoFit/>
          </a:bodyPr>
          <a:lstStyle/>
          <a:p>
            <a:endParaRPr kumimoji="1" lang="zh-CN" altLang="en-US" sz="1440" dirty="0"/>
          </a:p>
        </p:txBody>
      </p:sp>
      <p:sp>
        <p:nvSpPr>
          <p:cNvPr id="48" name="Text Box 16">
            <a:extLst>
              <a:ext uri="{FF2B5EF4-FFF2-40B4-BE49-F238E27FC236}">
                <a16:creationId xmlns:a16="http://schemas.microsoft.com/office/drawing/2014/main" id="{77532C53-9C72-1B5E-CF41-D8378C6CDC6C}"/>
              </a:ext>
            </a:extLst>
          </p:cNvPr>
          <p:cNvSpPr txBox="1">
            <a:spLocks noChangeArrowheads="1"/>
          </p:cNvSpPr>
          <p:nvPr/>
        </p:nvSpPr>
        <p:spPr bwMode="auto">
          <a:xfrm>
            <a:off x="630799" y="3487262"/>
            <a:ext cx="1826890" cy="2708690"/>
          </a:xfrm>
          <a:prstGeom prst="rect">
            <a:avLst/>
          </a:prstGeom>
          <a:noFill/>
          <a:ln w="12700">
            <a:noFill/>
            <a:miter lim="800000"/>
            <a:headEnd/>
            <a:tailEnd/>
          </a:ln>
        </p:spPr>
        <p:txBody>
          <a:bodyPr wrap="square">
            <a:spAutoFit/>
          </a:bodyPr>
          <a:lstStyle/>
          <a:p>
            <a:pPr fontAlgn="base">
              <a:lnSpc>
                <a:spcPct val="114000"/>
              </a:lnSpc>
              <a:spcBef>
                <a:spcPct val="0"/>
              </a:spcBef>
              <a:spcAft>
                <a:spcPts val="480"/>
              </a:spcAft>
              <a:buClr>
                <a:schemeClr val="tx1"/>
              </a:buClr>
              <a:buSzPct val="100000"/>
            </a:pPr>
            <a:r>
              <a:rPr lang="en-US" altLang="zh-CN" sz="880" dirty="0" err="1">
                <a:latin typeface="DengXian" panose="02010600030101010101" pitchFamily="2" charset="-122"/>
                <a:cs typeface="Times New Roman" panose="02020603050405020304" pitchFamily="18" charset="0"/>
              </a:rPr>
              <a:t>Oatly’s</a:t>
            </a:r>
            <a:r>
              <a:rPr lang="en-US" altLang="zh-CN" sz="880" dirty="0">
                <a:latin typeface="DengXian" panose="02010600030101010101" pitchFamily="2" charset="-122"/>
                <a:cs typeface="Times New Roman" panose="02020603050405020304" pitchFamily="18" charset="0"/>
              </a:rPr>
              <a:t> primary ingredient is oats, and while global oat supply is relatively stable, the growing demand for plant-based dairy may put pressure on premium oat supply. </a:t>
            </a:r>
            <a:r>
              <a:rPr lang="en-US" altLang="zh-CN" sz="880" dirty="0" err="1">
                <a:latin typeface="DengXian" panose="02010600030101010101" pitchFamily="2" charset="-122"/>
                <a:cs typeface="Times New Roman" panose="02020603050405020304" pitchFamily="18" charset="0"/>
              </a:rPr>
              <a:t>Oatly’s</a:t>
            </a:r>
            <a:r>
              <a:rPr lang="en-US" altLang="zh-CN" sz="880" dirty="0">
                <a:latin typeface="DengXian" panose="02010600030101010101" pitchFamily="2" charset="-122"/>
                <a:cs typeface="Times New Roman" panose="02020603050405020304" pitchFamily="18" charset="0"/>
              </a:rPr>
              <a:t> reliance on proprietary processing technology (e.g., enzymatic technology) also increases dependency on specific suppliers and equipment providers. However, since oats are a widely cultivated crop, supplier bargaining power remains generally low. Additionally, </a:t>
            </a:r>
            <a:r>
              <a:rPr lang="en-US" altLang="zh-CN" sz="880" dirty="0" err="1">
                <a:latin typeface="DengXian" panose="02010600030101010101" pitchFamily="2" charset="-122"/>
                <a:cs typeface="Times New Roman" panose="02020603050405020304" pitchFamily="18" charset="0"/>
              </a:rPr>
              <a:t>Oatly’s</a:t>
            </a:r>
            <a:r>
              <a:rPr lang="en-US" altLang="zh-CN" sz="880" dirty="0">
                <a:latin typeface="DengXian" panose="02010600030101010101" pitchFamily="2" charset="-122"/>
                <a:cs typeface="Times New Roman" panose="02020603050405020304" pitchFamily="18" charset="0"/>
              </a:rPr>
              <a:t> global production facilities (e.g., in Europe and North America) help mitigate supply chain risks.</a:t>
            </a:r>
            <a:r>
              <a:rPr lang="zh-CN" altLang="zh-CN" sz="880" dirty="0"/>
              <a:t> </a:t>
            </a:r>
            <a:endParaRPr lang="es-ES" altLang="en-US" sz="880" b="1" dirty="0">
              <a:latin typeface="Georgia Pro Light" panose="02040302050405020303" pitchFamily="18" charset="0"/>
            </a:endParaRPr>
          </a:p>
        </p:txBody>
      </p:sp>
      <p:sp>
        <p:nvSpPr>
          <p:cNvPr id="50" name="文本框 49">
            <a:extLst>
              <a:ext uri="{FF2B5EF4-FFF2-40B4-BE49-F238E27FC236}">
                <a16:creationId xmlns:a16="http://schemas.microsoft.com/office/drawing/2014/main" id="{EFB0A962-51A2-5C59-ECDC-4FD1D4D4ECC1}"/>
              </a:ext>
            </a:extLst>
          </p:cNvPr>
          <p:cNvSpPr txBox="1"/>
          <p:nvPr/>
        </p:nvSpPr>
        <p:spPr>
          <a:xfrm>
            <a:off x="2515150" y="3212236"/>
            <a:ext cx="1631193" cy="3207032"/>
          </a:xfrm>
          <a:prstGeom prst="rect">
            <a:avLst/>
          </a:prstGeom>
          <a:noFill/>
        </p:spPr>
        <p:txBody>
          <a:bodyPr wrap="square">
            <a:spAutoFit/>
          </a:bodyPr>
          <a:lstStyle/>
          <a:p>
            <a:r>
              <a:rPr lang="en-US" altLang="zh-CN" sz="880" dirty="0">
                <a:latin typeface="DengXian" panose="02010600030101010101" pitchFamily="2" charset="-122"/>
                <a:cs typeface="Times New Roman" panose="02020603050405020304" pitchFamily="18" charset="0"/>
              </a:rPr>
              <a:t>Consumers in the global plant-based dairy market have significant bargaining power due to the wide variety of alternatives (e.g., soy milk, almond milk, coconut milk). In mature markets like North America and Europe, demand for functional and premium products (e.g., high-protein, low-sugar) provides </a:t>
            </a:r>
            <a:r>
              <a:rPr lang="en-US" altLang="zh-CN" sz="880" dirty="0" err="1">
                <a:latin typeface="DengXian" panose="02010600030101010101" pitchFamily="2" charset="-122"/>
                <a:cs typeface="Times New Roman" panose="02020603050405020304" pitchFamily="18" charset="0"/>
              </a:rPr>
              <a:t>Oatly</a:t>
            </a:r>
            <a:r>
              <a:rPr lang="en-US" altLang="zh-CN" sz="880" dirty="0">
                <a:latin typeface="DengXian" panose="02010600030101010101" pitchFamily="2" charset="-122"/>
                <a:cs typeface="Times New Roman" panose="02020603050405020304" pitchFamily="18" charset="0"/>
              </a:rPr>
              <a:t> with some pricing power. However, in price-sensitive emerging markets (e.g., Brazil and Southeast Asia), </a:t>
            </a:r>
            <a:r>
              <a:rPr lang="en-US" altLang="zh-CN" sz="880" dirty="0" err="1">
                <a:latin typeface="DengXian" panose="02010600030101010101" pitchFamily="2" charset="-122"/>
                <a:cs typeface="Times New Roman" panose="02020603050405020304" pitchFamily="18" charset="0"/>
              </a:rPr>
              <a:t>Oatly’s</a:t>
            </a:r>
            <a:r>
              <a:rPr lang="en-US" altLang="zh-CN" sz="880" dirty="0">
                <a:latin typeface="DengXian" panose="02010600030101010101" pitchFamily="2" charset="-122"/>
                <a:cs typeface="Times New Roman" panose="02020603050405020304" pitchFamily="18" charset="0"/>
              </a:rPr>
              <a:t> premium positioning may limit its appeal. Additionally, retailers and distribution channels (e.g., supermarkets, e-commerce platforms) hold strong bargaining power globally, further squeezing brand profit margins. </a:t>
            </a:r>
            <a:endParaRPr lang="zh-CN" altLang="en-US" sz="880" dirty="0"/>
          </a:p>
        </p:txBody>
      </p:sp>
      <p:sp>
        <p:nvSpPr>
          <p:cNvPr id="57" name="文本框 56">
            <a:extLst>
              <a:ext uri="{FF2B5EF4-FFF2-40B4-BE49-F238E27FC236}">
                <a16:creationId xmlns:a16="http://schemas.microsoft.com/office/drawing/2014/main" id="{606829B0-E402-FC97-A22C-971386FC4EC9}"/>
              </a:ext>
            </a:extLst>
          </p:cNvPr>
          <p:cNvSpPr txBox="1"/>
          <p:nvPr/>
        </p:nvSpPr>
        <p:spPr>
          <a:xfrm>
            <a:off x="4334583" y="3053709"/>
            <a:ext cx="1763170" cy="3354252"/>
          </a:xfrm>
          <a:prstGeom prst="rect">
            <a:avLst/>
          </a:prstGeom>
          <a:noFill/>
        </p:spPr>
        <p:txBody>
          <a:bodyPr wrap="square">
            <a:spAutoFit/>
          </a:bodyPr>
          <a:lstStyle/>
          <a:p>
            <a:pPr>
              <a:lnSpc>
                <a:spcPct val="115000"/>
              </a:lnSpc>
              <a:spcAft>
                <a:spcPts val="640"/>
              </a:spcAft>
            </a:pPr>
            <a:r>
              <a:rPr lang="en-US" altLang="zh-CN" sz="880" kern="100" dirty="0">
                <a:latin typeface="DengXian" panose="02010600030101010101" pitchFamily="2" charset="-122"/>
                <a:ea typeface="DengXian" panose="02010600030101010101" pitchFamily="2" charset="-122"/>
                <a:cs typeface="Times New Roman" panose="02020603050405020304" pitchFamily="18" charset="0"/>
              </a:rPr>
              <a:t>The plant-based dairy market has numerous substitutes, including soy milk, almond milk, and coconut milk, which perform differently across regions. For example, oat milk demand is high in North America and Europe, but almond milk remains a major competitor; in emerging markets like Brazil and Southeast Asia, soy milk and coconut milk are more popular. Additionally, traditional dairy (e.g., cow’s milk) remains a threat in terms of price and nutritional value, especially in price-sensitive markets. Changes in consumer preferences for taste, nutrition, and sustainability may further increase the appeal of substitutes.  </a:t>
            </a:r>
            <a:endParaRPr lang="zh-CN" altLang="zh-CN" sz="880" kern="100" dirty="0">
              <a:latin typeface="DengXian" panose="02010600030101010101" pitchFamily="2" charset="-122"/>
              <a:ea typeface="DengXian" panose="02010600030101010101" pitchFamily="2" charset="-122"/>
              <a:cs typeface="Times New Roman" panose="02020603050405020304" pitchFamily="18" charset="0"/>
            </a:endParaRPr>
          </a:p>
        </p:txBody>
      </p:sp>
      <p:sp>
        <p:nvSpPr>
          <p:cNvPr id="61" name="文本框 60">
            <a:extLst>
              <a:ext uri="{FF2B5EF4-FFF2-40B4-BE49-F238E27FC236}">
                <a16:creationId xmlns:a16="http://schemas.microsoft.com/office/drawing/2014/main" id="{9C312308-8591-0FCC-57B4-6096C0E16D71}"/>
              </a:ext>
            </a:extLst>
          </p:cNvPr>
          <p:cNvSpPr txBox="1"/>
          <p:nvPr/>
        </p:nvSpPr>
        <p:spPr>
          <a:xfrm>
            <a:off x="6034626" y="3090501"/>
            <a:ext cx="1577773" cy="3342453"/>
          </a:xfrm>
          <a:prstGeom prst="rect">
            <a:avLst/>
          </a:prstGeom>
          <a:noFill/>
        </p:spPr>
        <p:txBody>
          <a:bodyPr wrap="square">
            <a:spAutoFit/>
          </a:bodyPr>
          <a:lstStyle/>
          <a:p>
            <a:r>
              <a:rPr lang="en-US" altLang="zh-CN" sz="880" dirty="0">
                <a:latin typeface="DengXian" panose="02010600030101010101" pitchFamily="2" charset="-122"/>
                <a:cs typeface="Times New Roman" panose="02020603050405020304" pitchFamily="18" charset="0"/>
              </a:rPr>
              <a:t>The plant-based dairy industry is highly competitive, with numerous strong players globally, including international brands (e.g., </a:t>
            </a:r>
            <a:r>
              <a:rPr lang="en-US" altLang="zh-CN" sz="880" dirty="0" err="1">
                <a:latin typeface="DengXian" panose="02010600030101010101" pitchFamily="2" charset="-122"/>
                <a:cs typeface="Times New Roman" panose="02020603050405020304" pitchFamily="18" charset="0"/>
              </a:rPr>
              <a:t>Alpro</a:t>
            </a:r>
            <a:r>
              <a:rPr lang="en-US" altLang="zh-CN" sz="880" dirty="0">
                <a:latin typeface="DengXian" panose="02010600030101010101" pitchFamily="2" charset="-122"/>
                <a:cs typeface="Times New Roman" panose="02020603050405020304" pitchFamily="18" charset="0"/>
              </a:rPr>
              <a:t>, innocent</a:t>
            </a:r>
            <a:r>
              <a:rPr lang="zh-CN" altLang="zh-CN" sz="880" dirty="0">
                <a:ea typeface="DengXian" panose="02010600030101010101" pitchFamily="2" charset="-122"/>
                <a:cs typeface="Times New Roman" panose="02020603050405020304" pitchFamily="18" charset="0"/>
              </a:rPr>
              <a:t>，</a:t>
            </a:r>
            <a:r>
              <a:rPr lang="en-US" altLang="zh-CN" sz="880" dirty="0">
                <a:ea typeface="DengXian" panose="02010600030101010101" pitchFamily="2" charset="-122"/>
                <a:cs typeface="Times New Roman" panose="02020603050405020304" pitchFamily="18" charset="0"/>
              </a:rPr>
              <a:t>Silk) and local brands (e.g., local soy milk brands in Brazil, Coconut Palm Group in China). In North America and Europe, markets are maturing, and competition focuses on product innovation (e.g., functional beverages) and brand marketing; in emerging markets, price competition is more intense. </a:t>
            </a:r>
            <a:r>
              <a:rPr lang="en-US" altLang="zh-CN" sz="880" dirty="0" err="1">
                <a:ea typeface="DengXian" panose="02010600030101010101" pitchFamily="2" charset="-122"/>
                <a:cs typeface="Times New Roman" panose="02020603050405020304" pitchFamily="18" charset="0"/>
              </a:rPr>
              <a:t>Oatly</a:t>
            </a:r>
            <a:r>
              <a:rPr lang="en-US" altLang="zh-CN" sz="880" dirty="0">
                <a:ea typeface="DengXian" panose="02010600030101010101" pitchFamily="2" charset="-122"/>
                <a:cs typeface="Times New Roman" panose="02020603050405020304" pitchFamily="18" charset="0"/>
              </a:rPr>
              <a:t>, with its strong brand recognition and sustainability positioning, holds a significant place in the global market but must continuously innovate to counter challenges from competitors.</a:t>
            </a:r>
            <a:r>
              <a:rPr lang="zh-CN" altLang="zh-CN" sz="880" dirty="0"/>
              <a:t> </a:t>
            </a:r>
            <a:endParaRPr lang="zh-CN" altLang="en-US" sz="880" dirty="0"/>
          </a:p>
        </p:txBody>
      </p:sp>
      <p:sp>
        <p:nvSpPr>
          <p:cNvPr id="63" name="文本框 62">
            <a:extLst>
              <a:ext uri="{FF2B5EF4-FFF2-40B4-BE49-F238E27FC236}">
                <a16:creationId xmlns:a16="http://schemas.microsoft.com/office/drawing/2014/main" id="{B862850E-5D52-A858-FA96-29B9A8AD6145}"/>
              </a:ext>
            </a:extLst>
          </p:cNvPr>
          <p:cNvSpPr txBox="1"/>
          <p:nvPr/>
        </p:nvSpPr>
        <p:spPr>
          <a:xfrm>
            <a:off x="7787837" y="3151664"/>
            <a:ext cx="1682537" cy="3071610"/>
          </a:xfrm>
          <a:prstGeom prst="rect">
            <a:avLst/>
          </a:prstGeom>
          <a:noFill/>
        </p:spPr>
        <p:txBody>
          <a:bodyPr wrap="square">
            <a:spAutoFit/>
          </a:bodyPr>
          <a:lstStyle/>
          <a:p>
            <a:r>
              <a:rPr lang="en-US" altLang="zh-CN" sz="880" dirty="0">
                <a:latin typeface="DengXian" panose="02010600030101010101" pitchFamily="2" charset="-122"/>
                <a:cs typeface="Times New Roman" panose="02020603050405020304" pitchFamily="18" charset="0"/>
              </a:rPr>
              <a:t>The plant-based dairy industry has relatively low entry barriers, especially in emerging markets, where many local brands and startups are entering. However, </a:t>
            </a:r>
            <a:r>
              <a:rPr lang="en-US" altLang="zh-CN" sz="880" dirty="0" err="1">
                <a:latin typeface="DengXian" panose="02010600030101010101" pitchFamily="2" charset="-122"/>
                <a:cs typeface="Times New Roman" panose="02020603050405020304" pitchFamily="18" charset="0"/>
              </a:rPr>
              <a:t>Oatly’s</a:t>
            </a:r>
            <a:r>
              <a:rPr lang="en-US" altLang="zh-CN" sz="880" dirty="0">
                <a:latin typeface="DengXian" panose="02010600030101010101" pitchFamily="2" charset="-122"/>
                <a:cs typeface="Times New Roman" panose="02020603050405020304" pitchFamily="18" charset="0"/>
              </a:rPr>
              <a:t> brand strength, proprietary technology (e.g., oat enzymatic processing), and sustainability positioning provide it with a competitive moat. In mature markets like North America and Europe, new entrants face higher barriers due to the need for significant brand and distribution investments. In emerging markets like Brazil and Southeast Asia, price competition and localized strategies make the threat of new entrants more pronounced. </a:t>
            </a:r>
            <a:endParaRPr lang="zh-CN" altLang="en-US" sz="880" dirty="0"/>
          </a:p>
        </p:txBody>
      </p:sp>
    </p:spTree>
    <p:extLst>
      <p:ext uri="{BB962C8B-B14F-4D97-AF65-F5344CB8AC3E}">
        <p14:creationId xmlns:p14="http://schemas.microsoft.com/office/powerpoint/2010/main" val="13035047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1041</Words>
  <Application>Microsoft Office PowerPoint</Application>
  <PresentationFormat>Custom</PresentationFormat>
  <Paragraphs>66</Paragraphs>
  <Slides>4</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vt:i4>
      </vt:variant>
    </vt:vector>
  </HeadingPairs>
  <TitlesOfParts>
    <vt:vector size="18" baseType="lpstr">
      <vt:lpstr>Arimo</vt:lpstr>
      <vt:lpstr>Montaser Arabic</vt:lpstr>
      <vt:lpstr>Georgia Pro Light</vt:lpstr>
      <vt:lpstr>Poppins Bold</vt:lpstr>
      <vt:lpstr>Arial</vt:lpstr>
      <vt:lpstr>Gill Sans</vt:lpstr>
      <vt:lpstr>DengXian</vt:lpstr>
      <vt:lpstr>Georgia</vt:lpstr>
      <vt:lpstr>Arimo Bold</vt:lpstr>
      <vt:lpstr>Canva Sans Bold</vt:lpstr>
      <vt:lpstr>Poppins</vt:lpstr>
      <vt:lpstr>-apple-system</vt:lpstr>
      <vt:lpstr>Calibri</vt:lpstr>
      <vt:lpstr>Office Theme</vt:lpstr>
      <vt:lpstr>PowerPoint Presentation</vt:lpstr>
      <vt:lpstr>PowerPoint Presentation</vt:lpstr>
      <vt:lpstr>Global and Regional Milk Substitutes Market Analysis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Multicolor Free Professional Pestel/PEST Analysis Graph</dc:title>
  <dc:creator>Chanyung Hur</dc:creator>
  <cp:lastModifiedBy>찬영 허</cp:lastModifiedBy>
  <cp:revision>3</cp:revision>
  <dcterms:created xsi:type="dcterms:W3CDTF">2006-08-16T00:00:00Z</dcterms:created>
  <dcterms:modified xsi:type="dcterms:W3CDTF">2025-02-11T10:20:23Z</dcterms:modified>
  <dc:identifier>DAGex0KYrKw</dc:identifier>
</cp:coreProperties>
</file>